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91" r:id="rId1"/>
  </p:sldMasterIdLst>
  <p:notesMasterIdLst>
    <p:notesMasterId r:id="rId21"/>
  </p:notesMasterIdLst>
  <p:sldIdLst>
    <p:sldId id="256" r:id="rId2"/>
    <p:sldId id="331" r:id="rId3"/>
    <p:sldId id="332" r:id="rId4"/>
    <p:sldId id="259" r:id="rId5"/>
    <p:sldId id="328" r:id="rId6"/>
    <p:sldId id="284" r:id="rId7"/>
    <p:sldId id="301" r:id="rId8"/>
    <p:sldId id="334" r:id="rId9"/>
    <p:sldId id="304" r:id="rId10"/>
    <p:sldId id="329" r:id="rId11"/>
    <p:sldId id="336" r:id="rId12"/>
    <p:sldId id="337" r:id="rId13"/>
    <p:sldId id="307" r:id="rId14"/>
    <p:sldId id="338" r:id="rId15"/>
    <p:sldId id="339" r:id="rId16"/>
    <p:sldId id="340" r:id="rId17"/>
    <p:sldId id="342" r:id="rId18"/>
    <p:sldId id="341" r:id="rId19"/>
    <p:sldId id="30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tan Kurahatti" initials="CK" lastIdx="2" clrIdx="0">
    <p:extLst>
      <p:ext uri="{19B8F6BF-5375-455C-9EA6-DF929625EA0E}">
        <p15:presenceInfo xmlns:p15="http://schemas.microsoft.com/office/powerpoint/2012/main" userId="dc16102948ba1325" providerId="Windows Live"/>
      </p:ext>
    </p:extLst>
  </p:cmAuthor>
  <p:cmAuthor id="2" name="kiran pujar" initials="kp" lastIdx="2" clrIdx="1">
    <p:extLst>
      <p:ext uri="{19B8F6BF-5375-455C-9EA6-DF929625EA0E}">
        <p15:presenceInfo xmlns:p15="http://schemas.microsoft.com/office/powerpoint/2012/main" userId="55d6c36fd376287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5D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86" autoAdjust="0"/>
    <p:restoredTop sz="95332" autoAdjust="0"/>
  </p:normalViewPr>
  <p:slideViewPr>
    <p:cSldViewPr snapToGrid="0">
      <p:cViewPr varScale="1">
        <p:scale>
          <a:sx n="85" d="100"/>
          <a:sy n="85" d="100"/>
        </p:scale>
        <p:origin x="600" y="5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2D2CB-C652-46ED-B653-DF58AD74B3BC}" type="datetimeFigureOut">
              <a:rPr lang="en-IN" smtClean="0"/>
              <a:pPr/>
              <a:t>03-04-2024</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2483BF-2FD3-4046-BBB2-FEEB2B251D68}" type="slidenum">
              <a:rPr lang="en-IN" smtClean="0"/>
              <a:pPr/>
              <a:t>‹#›</a:t>
            </a:fld>
            <a:endParaRPr lang="en-IN"/>
          </a:p>
        </p:txBody>
      </p:sp>
    </p:spTree>
    <p:extLst>
      <p:ext uri="{BB962C8B-B14F-4D97-AF65-F5344CB8AC3E}">
        <p14:creationId xmlns:p14="http://schemas.microsoft.com/office/powerpoint/2010/main" val="3063365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pPr>
            <a:endParaRPr lang="en-IN" dirty="0"/>
          </a:p>
        </p:txBody>
      </p:sp>
      <p:sp>
        <p:nvSpPr>
          <p:cNvPr id="4" name="Slide Number Placeholder 3"/>
          <p:cNvSpPr>
            <a:spLocks noGrp="1"/>
          </p:cNvSpPr>
          <p:nvPr>
            <p:ph type="sldNum" sz="quarter" idx="10"/>
          </p:nvPr>
        </p:nvSpPr>
        <p:spPr/>
        <p:txBody>
          <a:bodyPr/>
          <a:lstStyle/>
          <a:p>
            <a:fld id="{632483BF-2FD3-4046-BBB2-FEEB2B251D68}" type="slidenum">
              <a:rPr lang="en-IN" smtClean="0"/>
              <a:pPr/>
              <a:t>4</a:t>
            </a:fld>
            <a:endParaRPr lang="en-IN"/>
          </a:p>
        </p:txBody>
      </p:sp>
    </p:spTree>
    <p:extLst>
      <p:ext uri="{BB962C8B-B14F-4D97-AF65-F5344CB8AC3E}">
        <p14:creationId xmlns:p14="http://schemas.microsoft.com/office/powerpoint/2010/main" val="2388692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80907-6468-73EC-54DE-1FF968CF17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E34FB1-28E4-A599-D69A-71E378730D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A3962-1ABF-62CB-3F0E-4D12E3326655}"/>
              </a:ext>
            </a:extLst>
          </p:cNvPr>
          <p:cNvSpPr>
            <a:spLocks noGrp="1"/>
          </p:cNvSpPr>
          <p:nvPr>
            <p:ph type="dt" sz="half" idx="10"/>
          </p:nvPr>
        </p:nvSpPr>
        <p:spPr/>
        <p:txBody>
          <a:bodyPr/>
          <a:lstStyle/>
          <a:p>
            <a:fld id="{522EF4D3-7E85-46CE-9F96-68A50069ED44}" type="datetime1">
              <a:rPr lang="en-US" smtClean="0"/>
              <a:pPr/>
              <a:t>4/3/2024</a:t>
            </a:fld>
            <a:endParaRPr lang="en-US" dirty="0"/>
          </a:p>
        </p:txBody>
      </p:sp>
      <p:sp>
        <p:nvSpPr>
          <p:cNvPr id="5" name="Footer Placeholder 4">
            <a:extLst>
              <a:ext uri="{FF2B5EF4-FFF2-40B4-BE49-F238E27FC236}">
                <a16:creationId xmlns:a16="http://schemas.microsoft.com/office/drawing/2014/main" id="{E551EA72-F9E0-4A01-44B3-844D03EDCE9D}"/>
              </a:ext>
            </a:extLst>
          </p:cNvPr>
          <p:cNvSpPr>
            <a:spLocks noGrp="1"/>
          </p:cNvSpPr>
          <p:nvPr>
            <p:ph type="ftr" sz="quarter" idx="11"/>
          </p:nvPr>
        </p:nvSpPr>
        <p:spPr/>
        <p:txBody>
          <a:bodyPr/>
          <a:lstStyle/>
          <a:p>
            <a:r>
              <a:rPr lang="en-US"/>
              <a:t>“DESIGN OF LOW POWER, AREA EFFICIENT 2-4 MIXED LOGIC LINE DECODER” </a:t>
            </a:r>
            <a:endParaRPr lang="en-US" dirty="0"/>
          </a:p>
        </p:txBody>
      </p:sp>
      <p:sp>
        <p:nvSpPr>
          <p:cNvPr id="6" name="Slide Number Placeholder 5">
            <a:extLst>
              <a:ext uri="{FF2B5EF4-FFF2-40B4-BE49-F238E27FC236}">
                <a16:creationId xmlns:a16="http://schemas.microsoft.com/office/drawing/2014/main" id="{4D11D409-5632-78A3-D2F1-EB6DA34EB352}"/>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45194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6222B-475E-E48A-CADD-1540DC2D3B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3F2012-A552-0F0A-F0C6-963EF40287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AF996D-E4D9-A241-A503-67F22CF54CFB}"/>
              </a:ext>
            </a:extLst>
          </p:cNvPr>
          <p:cNvSpPr>
            <a:spLocks noGrp="1"/>
          </p:cNvSpPr>
          <p:nvPr>
            <p:ph type="dt" sz="half" idx="10"/>
          </p:nvPr>
        </p:nvSpPr>
        <p:spPr/>
        <p:txBody>
          <a:bodyPr/>
          <a:lstStyle/>
          <a:p>
            <a:fld id="{1DFB9FD6-A68D-4D37-92F7-4090ACC7A9A7}" type="datetime1">
              <a:rPr lang="en-US" smtClean="0"/>
              <a:pPr/>
              <a:t>4/3/2024</a:t>
            </a:fld>
            <a:endParaRPr lang="en-US" dirty="0"/>
          </a:p>
        </p:txBody>
      </p:sp>
      <p:sp>
        <p:nvSpPr>
          <p:cNvPr id="5" name="Footer Placeholder 4">
            <a:extLst>
              <a:ext uri="{FF2B5EF4-FFF2-40B4-BE49-F238E27FC236}">
                <a16:creationId xmlns:a16="http://schemas.microsoft.com/office/drawing/2014/main" id="{681A1934-DFF8-8682-914D-55645132EF4E}"/>
              </a:ext>
            </a:extLst>
          </p:cNvPr>
          <p:cNvSpPr>
            <a:spLocks noGrp="1"/>
          </p:cNvSpPr>
          <p:nvPr>
            <p:ph type="ftr" sz="quarter" idx="11"/>
          </p:nvPr>
        </p:nvSpPr>
        <p:spPr/>
        <p:txBody>
          <a:bodyPr/>
          <a:lstStyle/>
          <a:p>
            <a:r>
              <a:rPr lang="en-US"/>
              <a:t>“DESIGN OF LOW POWER, AREA EFFICIENT 2-4 MIXED LOGIC LINE DECODER” </a:t>
            </a:r>
            <a:endParaRPr lang="en-US" dirty="0"/>
          </a:p>
        </p:txBody>
      </p:sp>
      <p:sp>
        <p:nvSpPr>
          <p:cNvPr id="6" name="Slide Number Placeholder 5">
            <a:extLst>
              <a:ext uri="{FF2B5EF4-FFF2-40B4-BE49-F238E27FC236}">
                <a16:creationId xmlns:a16="http://schemas.microsoft.com/office/drawing/2014/main" id="{C7D8FEE0-C617-65B3-E445-78026204653F}"/>
              </a:ext>
            </a:extLst>
          </p:cNvPr>
          <p:cNvSpPr>
            <a:spLocks noGrp="1"/>
          </p:cNvSpPr>
          <p:nvPr>
            <p:ph type="sldNum" sz="quarter" idx="12"/>
          </p:nvPr>
        </p:nvSpPr>
        <p:spPr/>
        <p:txBody>
          <a:bodyPr/>
          <a:lstStyle/>
          <a:p>
            <a:fld id="{6113E31D-E2AB-40D1-8B51-AFA5AFEF393A}" type="slidenum">
              <a:rPr lang="en-US" smtClean="0"/>
              <a:pPr/>
              <a:t>‹#›</a:t>
            </a:fld>
            <a:endParaRPr lang="en-US" dirty="0"/>
          </a:p>
        </p:txBody>
      </p:sp>
    </p:spTree>
    <p:extLst>
      <p:ext uri="{BB962C8B-B14F-4D97-AF65-F5344CB8AC3E}">
        <p14:creationId xmlns:p14="http://schemas.microsoft.com/office/powerpoint/2010/main" val="3081608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9E9D2-FA0B-17B1-CE36-E8C0FDC196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22B7E27-7D55-F2ED-FA6E-5898551C97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D94FB3-46FE-0211-8F45-B2F57718B622}"/>
              </a:ext>
            </a:extLst>
          </p:cNvPr>
          <p:cNvSpPr>
            <a:spLocks noGrp="1"/>
          </p:cNvSpPr>
          <p:nvPr>
            <p:ph type="dt" sz="half" idx="10"/>
          </p:nvPr>
        </p:nvSpPr>
        <p:spPr/>
        <p:txBody>
          <a:bodyPr/>
          <a:lstStyle/>
          <a:p>
            <a:fld id="{8AB5F839-369C-4BAA-88C1-C222474D0C10}" type="datetime1">
              <a:rPr lang="en-US" smtClean="0"/>
              <a:pPr/>
              <a:t>4/3/2024</a:t>
            </a:fld>
            <a:endParaRPr lang="en-US" dirty="0"/>
          </a:p>
        </p:txBody>
      </p:sp>
      <p:sp>
        <p:nvSpPr>
          <p:cNvPr id="5" name="Footer Placeholder 4">
            <a:extLst>
              <a:ext uri="{FF2B5EF4-FFF2-40B4-BE49-F238E27FC236}">
                <a16:creationId xmlns:a16="http://schemas.microsoft.com/office/drawing/2014/main" id="{2C76991F-45E6-10FF-CF62-8EC6133B3567}"/>
              </a:ext>
            </a:extLst>
          </p:cNvPr>
          <p:cNvSpPr>
            <a:spLocks noGrp="1"/>
          </p:cNvSpPr>
          <p:nvPr>
            <p:ph type="ftr" sz="quarter" idx="11"/>
          </p:nvPr>
        </p:nvSpPr>
        <p:spPr/>
        <p:txBody>
          <a:bodyPr/>
          <a:lstStyle/>
          <a:p>
            <a:r>
              <a:rPr lang="en-US"/>
              <a:t>“DESIGN OF LOW POWER, AREA EFFICIENT 2-4 MIXED LOGIC LINE DECODER” </a:t>
            </a:r>
            <a:endParaRPr lang="en-US" dirty="0"/>
          </a:p>
        </p:txBody>
      </p:sp>
      <p:sp>
        <p:nvSpPr>
          <p:cNvPr id="6" name="Slide Number Placeholder 5">
            <a:extLst>
              <a:ext uri="{FF2B5EF4-FFF2-40B4-BE49-F238E27FC236}">
                <a16:creationId xmlns:a16="http://schemas.microsoft.com/office/drawing/2014/main" id="{80873F05-D383-7B16-0F4B-344565A0AEF7}"/>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65950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FA2CA-E13B-01E2-AD93-CA113EF01F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B07832-E0B2-58D8-0A33-35E0933E21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853AD3-8B77-BDA2-C585-747112C160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EE3E52-5954-755F-56FF-B52F39A3841F}"/>
              </a:ext>
            </a:extLst>
          </p:cNvPr>
          <p:cNvSpPr>
            <a:spLocks noGrp="1"/>
          </p:cNvSpPr>
          <p:nvPr>
            <p:ph type="dt" sz="half" idx="10"/>
          </p:nvPr>
        </p:nvSpPr>
        <p:spPr/>
        <p:txBody>
          <a:bodyPr/>
          <a:lstStyle/>
          <a:p>
            <a:fld id="{2A135A4B-3BDB-4A3E-9FEE-A69FC22282D0}" type="datetime1">
              <a:rPr lang="en-US" smtClean="0"/>
              <a:pPr/>
              <a:t>4/3/2024</a:t>
            </a:fld>
            <a:endParaRPr lang="en-US" dirty="0"/>
          </a:p>
        </p:txBody>
      </p:sp>
      <p:sp>
        <p:nvSpPr>
          <p:cNvPr id="6" name="Footer Placeholder 5">
            <a:extLst>
              <a:ext uri="{FF2B5EF4-FFF2-40B4-BE49-F238E27FC236}">
                <a16:creationId xmlns:a16="http://schemas.microsoft.com/office/drawing/2014/main" id="{023F3EFA-F4A3-B64B-5138-458D843A5A98}"/>
              </a:ext>
            </a:extLst>
          </p:cNvPr>
          <p:cNvSpPr>
            <a:spLocks noGrp="1"/>
          </p:cNvSpPr>
          <p:nvPr>
            <p:ph type="ftr" sz="quarter" idx="11"/>
          </p:nvPr>
        </p:nvSpPr>
        <p:spPr/>
        <p:txBody>
          <a:bodyPr/>
          <a:lstStyle/>
          <a:p>
            <a:r>
              <a:rPr lang="en-US"/>
              <a:t>“DESIGN OF LOW POWER, AREA EFFICIENT 2-4 MIXED LOGIC LINE DECODER” </a:t>
            </a:r>
            <a:endParaRPr lang="en-US" dirty="0"/>
          </a:p>
        </p:txBody>
      </p:sp>
      <p:sp>
        <p:nvSpPr>
          <p:cNvPr id="7" name="Slide Number Placeholder 6">
            <a:extLst>
              <a:ext uri="{FF2B5EF4-FFF2-40B4-BE49-F238E27FC236}">
                <a16:creationId xmlns:a16="http://schemas.microsoft.com/office/drawing/2014/main" id="{B8EA35FE-CC66-3AF7-11F6-64CCFB61FDD3}"/>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10001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96E87-E426-4848-3D90-BE1E7C51A5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4CBB05-B7E1-2B21-CF05-A7B07949A3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5CA428-5FFF-90CD-5814-60134DB8D8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1EBCBC-28F5-B36D-7CEF-41797E36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661F4F-9488-D674-FA80-A885C3685E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EC4D6E-339B-84B5-4E60-751420A42C66}"/>
              </a:ext>
            </a:extLst>
          </p:cNvPr>
          <p:cNvSpPr>
            <a:spLocks noGrp="1"/>
          </p:cNvSpPr>
          <p:nvPr>
            <p:ph type="dt" sz="half" idx="10"/>
          </p:nvPr>
        </p:nvSpPr>
        <p:spPr/>
        <p:txBody>
          <a:bodyPr/>
          <a:lstStyle/>
          <a:p>
            <a:fld id="{93F8211F-9867-45EA-AC5E-8400F94EA492}" type="datetime1">
              <a:rPr lang="en-US" smtClean="0"/>
              <a:pPr/>
              <a:t>4/3/2024</a:t>
            </a:fld>
            <a:endParaRPr lang="en-US" dirty="0"/>
          </a:p>
        </p:txBody>
      </p:sp>
      <p:sp>
        <p:nvSpPr>
          <p:cNvPr id="8" name="Footer Placeholder 7">
            <a:extLst>
              <a:ext uri="{FF2B5EF4-FFF2-40B4-BE49-F238E27FC236}">
                <a16:creationId xmlns:a16="http://schemas.microsoft.com/office/drawing/2014/main" id="{CF3D6789-26BC-8C39-C2E9-4E5C2F1A5BC4}"/>
              </a:ext>
            </a:extLst>
          </p:cNvPr>
          <p:cNvSpPr>
            <a:spLocks noGrp="1"/>
          </p:cNvSpPr>
          <p:nvPr>
            <p:ph type="ftr" sz="quarter" idx="11"/>
          </p:nvPr>
        </p:nvSpPr>
        <p:spPr/>
        <p:txBody>
          <a:bodyPr/>
          <a:lstStyle/>
          <a:p>
            <a:r>
              <a:rPr lang="en-US"/>
              <a:t>“DESIGN OF LOW POWER, AREA EFFICIENT 2-4 MIXED LOGIC LINE DECODER” </a:t>
            </a:r>
            <a:endParaRPr lang="en-US" dirty="0"/>
          </a:p>
        </p:txBody>
      </p:sp>
      <p:sp>
        <p:nvSpPr>
          <p:cNvPr id="9" name="Slide Number Placeholder 8">
            <a:extLst>
              <a:ext uri="{FF2B5EF4-FFF2-40B4-BE49-F238E27FC236}">
                <a16:creationId xmlns:a16="http://schemas.microsoft.com/office/drawing/2014/main" id="{55893E24-F0D3-7760-B3BD-99EED1E323F8}"/>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6803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E6819-C583-0397-FE38-1769903DC28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6CFDAA-7479-3D28-69E0-F32E14F13163}"/>
              </a:ext>
            </a:extLst>
          </p:cNvPr>
          <p:cNvSpPr>
            <a:spLocks noGrp="1"/>
          </p:cNvSpPr>
          <p:nvPr>
            <p:ph type="dt" sz="half" idx="10"/>
          </p:nvPr>
        </p:nvSpPr>
        <p:spPr/>
        <p:txBody>
          <a:bodyPr/>
          <a:lstStyle/>
          <a:p>
            <a:fld id="{F38B2EF3-47ED-45A2-8998-5ED487ABE3BF}" type="datetime1">
              <a:rPr lang="en-US" smtClean="0"/>
              <a:pPr/>
              <a:t>4/3/2024</a:t>
            </a:fld>
            <a:endParaRPr lang="en-US" dirty="0"/>
          </a:p>
        </p:txBody>
      </p:sp>
      <p:sp>
        <p:nvSpPr>
          <p:cNvPr id="4" name="Footer Placeholder 3">
            <a:extLst>
              <a:ext uri="{FF2B5EF4-FFF2-40B4-BE49-F238E27FC236}">
                <a16:creationId xmlns:a16="http://schemas.microsoft.com/office/drawing/2014/main" id="{4E07A1D3-43CB-EE9B-2F38-4A2E44C98F59}"/>
              </a:ext>
            </a:extLst>
          </p:cNvPr>
          <p:cNvSpPr>
            <a:spLocks noGrp="1"/>
          </p:cNvSpPr>
          <p:nvPr>
            <p:ph type="ftr" sz="quarter" idx="11"/>
          </p:nvPr>
        </p:nvSpPr>
        <p:spPr/>
        <p:txBody>
          <a:bodyPr/>
          <a:lstStyle/>
          <a:p>
            <a:r>
              <a:rPr lang="en-US"/>
              <a:t>“DESIGN OF LOW POWER, AREA EFFICIENT 2-4 MIXED LOGIC LINE DECODER” </a:t>
            </a:r>
            <a:endParaRPr lang="en-US" dirty="0"/>
          </a:p>
        </p:txBody>
      </p:sp>
      <p:sp>
        <p:nvSpPr>
          <p:cNvPr id="5" name="Slide Number Placeholder 4">
            <a:extLst>
              <a:ext uri="{FF2B5EF4-FFF2-40B4-BE49-F238E27FC236}">
                <a16:creationId xmlns:a16="http://schemas.microsoft.com/office/drawing/2014/main" id="{E8FDCD0A-290B-6C3D-9AB5-59D4B31E924D}"/>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93453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47A53E-7652-BE2C-4D56-DE6F7855592E}"/>
              </a:ext>
            </a:extLst>
          </p:cNvPr>
          <p:cNvSpPr>
            <a:spLocks noGrp="1"/>
          </p:cNvSpPr>
          <p:nvPr>
            <p:ph type="dt" sz="half" idx="10"/>
          </p:nvPr>
        </p:nvSpPr>
        <p:spPr/>
        <p:txBody>
          <a:bodyPr/>
          <a:lstStyle/>
          <a:p>
            <a:fld id="{DC2E70C7-0BFF-4D24-B918-BAEEEBD003DD}" type="datetime1">
              <a:rPr lang="en-US" smtClean="0"/>
              <a:pPr/>
              <a:t>4/3/2024</a:t>
            </a:fld>
            <a:endParaRPr lang="en-US" dirty="0"/>
          </a:p>
        </p:txBody>
      </p:sp>
      <p:sp>
        <p:nvSpPr>
          <p:cNvPr id="3" name="Footer Placeholder 2">
            <a:extLst>
              <a:ext uri="{FF2B5EF4-FFF2-40B4-BE49-F238E27FC236}">
                <a16:creationId xmlns:a16="http://schemas.microsoft.com/office/drawing/2014/main" id="{30AFB120-8B29-329A-ACB5-DC5BDDFCE11D}"/>
              </a:ext>
            </a:extLst>
          </p:cNvPr>
          <p:cNvSpPr>
            <a:spLocks noGrp="1"/>
          </p:cNvSpPr>
          <p:nvPr>
            <p:ph type="ftr" sz="quarter" idx="11"/>
          </p:nvPr>
        </p:nvSpPr>
        <p:spPr/>
        <p:txBody>
          <a:bodyPr/>
          <a:lstStyle/>
          <a:p>
            <a:r>
              <a:rPr lang="en-US"/>
              <a:t>“DESIGN OF LOW POWER, AREA EFFICIENT 2-4 MIXED LOGIC LINE DECODER” </a:t>
            </a:r>
            <a:endParaRPr lang="en-US" dirty="0"/>
          </a:p>
        </p:txBody>
      </p:sp>
      <p:sp>
        <p:nvSpPr>
          <p:cNvPr id="4" name="Slide Number Placeholder 3">
            <a:extLst>
              <a:ext uri="{FF2B5EF4-FFF2-40B4-BE49-F238E27FC236}">
                <a16:creationId xmlns:a16="http://schemas.microsoft.com/office/drawing/2014/main" id="{233869E4-3C27-CAAC-AC04-1135BA7F6261}"/>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51760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34464-59C8-D1BD-DE01-831DC467E4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6EFE49-306B-AC5D-2E67-0C422610CF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0A8041-6678-20B1-8117-9B66BD1945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4CAB17-8E51-E62D-CBA0-62614CD2CA9D}"/>
              </a:ext>
            </a:extLst>
          </p:cNvPr>
          <p:cNvSpPr>
            <a:spLocks noGrp="1"/>
          </p:cNvSpPr>
          <p:nvPr>
            <p:ph type="dt" sz="half" idx="10"/>
          </p:nvPr>
        </p:nvSpPr>
        <p:spPr/>
        <p:txBody>
          <a:bodyPr/>
          <a:lstStyle/>
          <a:p>
            <a:fld id="{63EC2EBE-5505-4C8C-B5FA-2DD7FF310170}" type="datetime1">
              <a:rPr lang="en-US" smtClean="0"/>
              <a:pPr/>
              <a:t>4/3/2024</a:t>
            </a:fld>
            <a:endParaRPr lang="en-US" dirty="0"/>
          </a:p>
        </p:txBody>
      </p:sp>
      <p:sp>
        <p:nvSpPr>
          <p:cNvPr id="6" name="Footer Placeholder 5">
            <a:extLst>
              <a:ext uri="{FF2B5EF4-FFF2-40B4-BE49-F238E27FC236}">
                <a16:creationId xmlns:a16="http://schemas.microsoft.com/office/drawing/2014/main" id="{8702FCD3-777B-FF08-A20C-12EFDF413B94}"/>
              </a:ext>
            </a:extLst>
          </p:cNvPr>
          <p:cNvSpPr>
            <a:spLocks noGrp="1"/>
          </p:cNvSpPr>
          <p:nvPr>
            <p:ph type="ftr" sz="quarter" idx="11"/>
          </p:nvPr>
        </p:nvSpPr>
        <p:spPr/>
        <p:txBody>
          <a:bodyPr/>
          <a:lstStyle/>
          <a:p>
            <a:r>
              <a:rPr lang="en-US"/>
              <a:t>“DESIGN OF LOW POWER, AREA EFFICIENT 2-4 MIXED LOGIC LINE DECODER” </a:t>
            </a:r>
            <a:endParaRPr lang="en-US" dirty="0"/>
          </a:p>
        </p:txBody>
      </p:sp>
      <p:sp>
        <p:nvSpPr>
          <p:cNvPr id="7" name="Slide Number Placeholder 6">
            <a:extLst>
              <a:ext uri="{FF2B5EF4-FFF2-40B4-BE49-F238E27FC236}">
                <a16:creationId xmlns:a16="http://schemas.microsoft.com/office/drawing/2014/main" id="{0B79A03B-C6D2-578C-8BB7-8D2BDD7BB474}"/>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71089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47EC3-8E2A-F904-C12B-32975DC4A3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3B39D2-B0EE-B142-3A75-8DE5C07C15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96E426-441B-C733-2F62-CC0652FC26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D45B6C-3ED8-2BCE-0467-8FC8A9ADAA6C}"/>
              </a:ext>
            </a:extLst>
          </p:cNvPr>
          <p:cNvSpPr>
            <a:spLocks noGrp="1"/>
          </p:cNvSpPr>
          <p:nvPr>
            <p:ph type="dt" sz="half" idx="10"/>
          </p:nvPr>
        </p:nvSpPr>
        <p:spPr/>
        <p:txBody>
          <a:bodyPr/>
          <a:lstStyle/>
          <a:p>
            <a:fld id="{01557D25-FFC1-4ED5-9360-3C3458AF0CDD}" type="datetime1">
              <a:rPr lang="en-US" smtClean="0"/>
              <a:pPr/>
              <a:t>4/3/2024</a:t>
            </a:fld>
            <a:endParaRPr lang="en-US" dirty="0"/>
          </a:p>
        </p:txBody>
      </p:sp>
      <p:sp>
        <p:nvSpPr>
          <p:cNvPr id="6" name="Footer Placeholder 5">
            <a:extLst>
              <a:ext uri="{FF2B5EF4-FFF2-40B4-BE49-F238E27FC236}">
                <a16:creationId xmlns:a16="http://schemas.microsoft.com/office/drawing/2014/main" id="{4BBF5815-4789-94FD-E0B7-F590A9D3A23B}"/>
              </a:ext>
            </a:extLst>
          </p:cNvPr>
          <p:cNvSpPr>
            <a:spLocks noGrp="1"/>
          </p:cNvSpPr>
          <p:nvPr>
            <p:ph type="ftr" sz="quarter" idx="11"/>
          </p:nvPr>
        </p:nvSpPr>
        <p:spPr/>
        <p:txBody>
          <a:bodyPr/>
          <a:lstStyle/>
          <a:p>
            <a:r>
              <a:rPr lang="en-US"/>
              <a:t>“DESIGN OF LOW POWER, AREA EFFICIENT 2-4 MIXED LOGIC LINE DECODER” </a:t>
            </a:r>
            <a:endParaRPr lang="en-US" dirty="0"/>
          </a:p>
        </p:txBody>
      </p:sp>
      <p:sp>
        <p:nvSpPr>
          <p:cNvPr id="7" name="Slide Number Placeholder 6">
            <a:extLst>
              <a:ext uri="{FF2B5EF4-FFF2-40B4-BE49-F238E27FC236}">
                <a16:creationId xmlns:a16="http://schemas.microsoft.com/office/drawing/2014/main" id="{D70DFB1B-E59E-29C4-F223-111F1C9A15B2}"/>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30001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898B1-685B-84F9-D260-164A681012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2BBABA-B4F4-AAC1-DE5E-49566D9D74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78106-CA20-7141-D39F-5A3A46A7B146}"/>
              </a:ext>
            </a:extLst>
          </p:cNvPr>
          <p:cNvSpPr>
            <a:spLocks noGrp="1"/>
          </p:cNvSpPr>
          <p:nvPr>
            <p:ph type="dt" sz="half" idx="10"/>
          </p:nvPr>
        </p:nvSpPr>
        <p:spPr/>
        <p:txBody>
          <a:bodyPr/>
          <a:lstStyle/>
          <a:p>
            <a:fld id="{17AE6F47-7F8B-4705-BEBE-38CF8A50874B}" type="datetime1">
              <a:rPr lang="en-US" smtClean="0"/>
              <a:pPr/>
              <a:t>4/3/2024</a:t>
            </a:fld>
            <a:endParaRPr lang="en-US" dirty="0"/>
          </a:p>
        </p:txBody>
      </p:sp>
      <p:sp>
        <p:nvSpPr>
          <p:cNvPr id="5" name="Footer Placeholder 4">
            <a:extLst>
              <a:ext uri="{FF2B5EF4-FFF2-40B4-BE49-F238E27FC236}">
                <a16:creationId xmlns:a16="http://schemas.microsoft.com/office/drawing/2014/main" id="{B66E9ECE-11FC-D168-5D71-5EE19D7D3CD9}"/>
              </a:ext>
            </a:extLst>
          </p:cNvPr>
          <p:cNvSpPr>
            <a:spLocks noGrp="1"/>
          </p:cNvSpPr>
          <p:nvPr>
            <p:ph type="ftr" sz="quarter" idx="11"/>
          </p:nvPr>
        </p:nvSpPr>
        <p:spPr/>
        <p:txBody>
          <a:bodyPr/>
          <a:lstStyle/>
          <a:p>
            <a:r>
              <a:rPr lang="en-US"/>
              <a:t>“DESIGN OF LOW POWER, AREA EFFICIENT 2-4 MIXED LOGIC LINE DECODER” </a:t>
            </a:r>
            <a:endParaRPr lang="en-US" dirty="0"/>
          </a:p>
        </p:txBody>
      </p:sp>
      <p:sp>
        <p:nvSpPr>
          <p:cNvPr id="6" name="Slide Number Placeholder 5">
            <a:extLst>
              <a:ext uri="{FF2B5EF4-FFF2-40B4-BE49-F238E27FC236}">
                <a16:creationId xmlns:a16="http://schemas.microsoft.com/office/drawing/2014/main" id="{F02C30C7-DA4C-BA20-4AD1-E07935851DF2}"/>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8159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5CEF0C-8B44-E3F7-A55B-3E059FBCB4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FBDBD3-F328-35B9-BDCA-8DE0779F28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C3551D-3AE7-165E-77C2-9576DEFD0C4F}"/>
              </a:ext>
            </a:extLst>
          </p:cNvPr>
          <p:cNvSpPr>
            <a:spLocks noGrp="1"/>
          </p:cNvSpPr>
          <p:nvPr>
            <p:ph type="dt" sz="half" idx="10"/>
          </p:nvPr>
        </p:nvSpPr>
        <p:spPr/>
        <p:txBody>
          <a:bodyPr/>
          <a:lstStyle/>
          <a:p>
            <a:fld id="{33A74281-0C46-40CA-A8BE-28A9DF90B3F3}" type="datetime1">
              <a:rPr lang="en-US" smtClean="0"/>
              <a:pPr/>
              <a:t>4/3/2024</a:t>
            </a:fld>
            <a:endParaRPr lang="en-US" dirty="0"/>
          </a:p>
        </p:txBody>
      </p:sp>
      <p:sp>
        <p:nvSpPr>
          <p:cNvPr id="5" name="Footer Placeholder 4">
            <a:extLst>
              <a:ext uri="{FF2B5EF4-FFF2-40B4-BE49-F238E27FC236}">
                <a16:creationId xmlns:a16="http://schemas.microsoft.com/office/drawing/2014/main" id="{04CC7147-FF0E-875E-446A-3B6C09695FA6}"/>
              </a:ext>
            </a:extLst>
          </p:cNvPr>
          <p:cNvSpPr>
            <a:spLocks noGrp="1"/>
          </p:cNvSpPr>
          <p:nvPr>
            <p:ph type="ftr" sz="quarter" idx="11"/>
          </p:nvPr>
        </p:nvSpPr>
        <p:spPr/>
        <p:txBody>
          <a:bodyPr/>
          <a:lstStyle/>
          <a:p>
            <a:r>
              <a:rPr lang="en-US"/>
              <a:t>“DESIGN OF LOW POWER, AREA EFFICIENT 2-4 MIXED LOGIC LINE DECODER” </a:t>
            </a:r>
            <a:endParaRPr lang="en-US" dirty="0"/>
          </a:p>
        </p:txBody>
      </p:sp>
      <p:sp>
        <p:nvSpPr>
          <p:cNvPr id="6" name="Slide Number Placeholder 5">
            <a:extLst>
              <a:ext uri="{FF2B5EF4-FFF2-40B4-BE49-F238E27FC236}">
                <a16:creationId xmlns:a16="http://schemas.microsoft.com/office/drawing/2014/main" id="{D0682B11-6C6D-345E-080A-F5554CD2AFCD}"/>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53650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316338-29C0-27B3-B398-C877B6E9D3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580898-9D59-980D-6BED-EA69C73AA9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4E6E9-924C-E0CC-9758-E03A15A80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EDB714-289A-4730-AFEB-A2343106773F}" type="datetime1">
              <a:rPr lang="en-US" smtClean="0"/>
              <a:pPr/>
              <a:t>4/3/2024</a:t>
            </a:fld>
            <a:endParaRPr lang="en-US" dirty="0"/>
          </a:p>
        </p:txBody>
      </p:sp>
      <p:sp>
        <p:nvSpPr>
          <p:cNvPr id="5" name="Footer Placeholder 4">
            <a:extLst>
              <a:ext uri="{FF2B5EF4-FFF2-40B4-BE49-F238E27FC236}">
                <a16:creationId xmlns:a16="http://schemas.microsoft.com/office/drawing/2014/main" id="{532217CE-D3AA-A3BC-E124-4145F0E3FD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“DESIGN OF LOW POWER, AREA EFFICIENT 2-4 MIXED LOGIC LINE DECODER” </a:t>
            </a:r>
            <a:endParaRPr lang="en-US" dirty="0"/>
          </a:p>
        </p:txBody>
      </p:sp>
      <p:sp>
        <p:nvSpPr>
          <p:cNvPr id="6" name="Slide Number Placeholder 5">
            <a:extLst>
              <a:ext uri="{FF2B5EF4-FFF2-40B4-BE49-F238E27FC236}">
                <a16:creationId xmlns:a16="http://schemas.microsoft.com/office/drawing/2014/main" id="{54A25FAA-610B-C018-B518-9EC8AFD1F9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06691919"/>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5034EA93-9A60-D62C-A9E7-0536F5182027}"/>
              </a:ext>
            </a:extLst>
          </p:cNvPr>
          <p:cNvSpPr>
            <a:spLocks noGrp="1" noChangeArrowheads="1"/>
          </p:cNvSpPr>
          <p:nvPr>
            <p:ph type="subTitle" idx="1"/>
          </p:nvPr>
        </p:nvSpPr>
        <p:spPr bwMode="auto">
          <a:xfrm>
            <a:off x="2280201" y="626398"/>
            <a:ext cx="9197695" cy="119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022350" algn="l"/>
              </a:tabLst>
              <a:defRPr>
                <a:solidFill>
                  <a:schemeClr val="tx1"/>
                </a:solidFill>
                <a:latin typeface="Arial" panose="020B0604020202020204" pitchFamily="34" charset="0"/>
              </a:defRPr>
            </a:lvl1pPr>
            <a:lvl2pPr eaLnBrk="0" fontAlgn="base" hangingPunct="0">
              <a:spcBef>
                <a:spcPct val="0"/>
              </a:spcBef>
              <a:spcAft>
                <a:spcPct val="0"/>
              </a:spcAft>
              <a:tabLst>
                <a:tab pos="1022350" algn="l"/>
              </a:tabLst>
              <a:defRPr>
                <a:solidFill>
                  <a:schemeClr val="tx1"/>
                </a:solidFill>
                <a:latin typeface="Arial" panose="020B0604020202020204" pitchFamily="34" charset="0"/>
              </a:defRPr>
            </a:lvl2pPr>
            <a:lvl3pPr eaLnBrk="0" fontAlgn="base" hangingPunct="0">
              <a:spcBef>
                <a:spcPct val="0"/>
              </a:spcBef>
              <a:spcAft>
                <a:spcPct val="0"/>
              </a:spcAft>
              <a:tabLst>
                <a:tab pos="1022350" algn="l"/>
              </a:tabLst>
              <a:defRPr>
                <a:solidFill>
                  <a:schemeClr val="tx1"/>
                </a:solidFill>
                <a:latin typeface="Arial" panose="020B0604020202020204" pitchFamily="34" charset="0"/>
              </a:defRPr>
            </a:lvl3pPr>
            <a:lvl4pPr eaLnBrk="0" fontAlgn="base" hangingPunct="0">
              <a:spcBef>
                <a:spcPct val="0"/>
              </a:spcBef>
              <a:spcAft>
                <a:spcPct val="0"/>
              </a:spcAft>
              <a:tabLst>
                <a:tab pos="1022350" algn="l"/>
              </a:tabLst>
              <a:defRPr>
                <a:solidFill>
                  <a:schemeClr val="tx1"/>
                </a:solidFill>
                <a:latin typeface="Arial" panose="020B0604020202020204" pitchFamily="34" charset="0"/>
              </a:defRPr>
            </a:lvl4pPr>
            <a:lvl5pPr eaLnBrk="0" fontAlgn="base" hangingPunct="0">
              <a:spcBef>
                <a:spcPct val="0"/>
              </a:spcBef>
              <a:spcAft>
                <a:spcPct val="0"/>
              </a:spcAft>
              <a:tabLst>
                <a:tab pos="1022350" algn="l"/>
              </a:tabLst>
              <a:defRPr>
                <a:solidFill>
                  <a:schemeClr val="tx1"/>
                </a:solidFill>
                <a:latin typeface="Arial" panose="020B0604020202020204" pitchFamily="34" charset="0"/>
              </a:defRPr>
            </a:lvl5pPr>
            <a:lvl6pPr eaLnBrk="0" fontAlgn="base" hangingPunct="0">
              <a:spcBef>
                <a:spcPct val="0"/>
              </a:spcBef>
              <a:spcAft>
                <a:spcPct val="0"/>
              </a:spcAft>
              <a:tabLst>
                <a:tab pos="1022350" algn="l"/>
              </a:tabLst>
              <a:defRPr>
                <a:solidFill>
                  <a:schemeClr val="tx1"/>
                </a:solidFill>
                <a:latin typeface="Arial" panose="020B0604020202020204" pitchFamily="34" charset="0"/>
              </a:defRPr>
            </a:lvl6pPr>
            <a:lvl7pPr eaLnBrk="0" fontAlgn="base" hangingPunct="0">
              <a:spcBef>
                <a:spcPct val="0"/>
              </a:spcBef>
              <a:spcAft>
                <a:spcPct val="0"/>
              </a:spcAft>
              <a:tabLst>
                <a:tab pos="1022350" algn="l"/>
              </a:tabLst>
              <a:defRPr>
                <a:solidFill>
                  <a:schemeClr val="tx1"/>
                </a:solidFill>
                <a:latin typeface="Arial" panose="020B0604020202020204" pitchFamily="34" charset="0"/>
              </a:defRPr>
            </a:lvl7pPr>
            <a:lvl8pPr eaLnBrk="0" fontAlgn="base" hangingPunct="0">
              <a:spcBef>
                <a:spcPct val="0"/>
              </a:spcBef>
              <a:spcAft>
                <a:spcPct val="0"/>
              </a:spcAft>
              <a:tabLst>
                <a:tab pos="1022350" algn="l"/>
              </a:tabLst>
              <a:defRPr>
                <a:solidFill>
                  <a:schemeClr val="tx1"/>
                </a:solidFill>
                <a:latin typeface="Arial" panose="020B0604020202020204" pitchFamily="34" charset="0"/>
              </a:defRPr>
            </a:lvl8pPr>
            <a:lvl9pPr eaLnBrk="0" fontAlgn="base" hangingPunct="0">
              <a:spcBef>
                <a:spcPct val="0"/>
              </a:spcBef>
              <a:spcAft>
                <a:spcPct val="0"/>
              </a:spcAft>
              <a:tabLst>
                <a:tab pos="1022350" algn="l"/>
              </a:tabLst>
              <a:defRPr>
                <a:solidFill>
                  <a:schemeClr val="tx1"/>
                </a:solidFill>
                <a:latin typeface="Arial" panose="020B0604020202020204" pitchFamily="34" charset="0"/>
              </a:defRPr>
            </a:lvl9pPr>
          </a:lstStyle>
          <a:p>
            <a:pPr marR="81915" algn="ctr">
              <a:lnSpc>
                <a:spcPct val="101000"/>
              </a:lnSpc>
              <a:spcAft>
                <a:spcPts val="1000"/>
              </a:spcAft>
              <a:tabLst>
                <a:tab pos="171450" algn="l"/>
              </a:tabLst>
            </a:pPr>
            <a:r>
              <a:rPr lang="en-IN" sz="2000" b="1"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rPr>
              <a:t>SDM COLLEGE OF ENGINEERING AND TECHNOLOGY,Dharwad-580002</a:t>
            </a:r>
            <a:endParaRPr lang="en-IN" sz="2000" b="1" dirty="0">
              <a:solidFill>
                <a:schemeClr val="accent1"/>
              </a:solidFill>
              <a:effectLst/>
              <a:latin typeface="Times New Roman" panose="02020603050405020304" pitchFamily="18" charset="0"/>
              <a:ea typeface="Calibri" panose="020F0502020204030204" pitchFamily="34" charset="0"/>
              <a:cs typeface="Times New Roman" pitchFamily="18" charset="0"/>
            </a:endParaRPr>
          </a:p>
          <a:p>
            <a:pPr marL="6350" marR="81915" indent="-6350">
              <a:lnSpc>
                <a:spcPct val="103000"/>
              </a:lnSpc>
              <a:spcAft>
                <a:spcPts val="100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(An autonomous Institution affiliated to</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Visvesvaraya Technological University, Belagavi – 590018)</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1022350" algn="l"/>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395D7EA-7D02-C524-E73B-4D5A00B4A1F4}"/>
              </a:ext>
            </a:extLst>
          </p:cNvPr>
          <p:cNvPicPr/>
          <p:nvPr/>
        </p:nvPicPr>
        <p:blipFill>
          <a:blip r:embed="rId2" cstate="print"/>
          <a:srcRect/>
          <a:stretch>
            <a:fillRect/>
          </a:stretch>
        </p:blipFill>
        <p:spPr>
          <a:xfrm>
            <a:off x="318051" y="453738"/>
            <a:ext cx="1962150" cy="1495425"/>
          </a:xfrm>
          <a:prstGeom prst="rect">
            <a:avLst/>
          </a:prstGeom>
          <a:noFill/>
          <a:ln>
            <a:noFill/>
            <a:prstDash/>
          </a:ln>
        </p:spPr>
      </p:pic>
      <p:sp>
        <p:nvSpPr>
          <p:cNvPr id="10" name="TextBox 9">
            <a:extLst>
              <a:ext uri="{FF2B5EF4-FFF2-40B4-BE49-F238E27FC236}">
                <a16:creationId xmlns:a16="http://schemas.microsoft.com/office/drawing/2014/main" id="{53D8C7FE-5CC0-42DA-DB28-030AB4A82F6F}"/>
              </a:ext>
            </a:extLst>
          </p:cNvPr>
          <p:cNvSpPr txBox="1"/>
          <p:nvPr/>
        </p:nvSpPr>
        <p:spPr>
          <a:xfrm>
            <a:off x="2509606" y="1524747"/>
            <a:ext cx="10276764" cy="461665"/>
          </a:xfrm>
          <a:prstGeom prst="rect">
            <a:avLst/>
          </a:prstGeom>
          <a:noFill/>
        </p:spPr>
        <p:txBody>
          <a:bodyPr wrap="square" rtlCol="0">
            <a:spAutoFit/>
          </a:bodyPr>
          <a:lstStyle/>
          <a:p>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Electronics  and Communication Engineering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AE0237C-CE76-A11B-BF7B-DB36F1780C29}"/>
              </a:ext>
            </a:extLst>
          </p:cNvPr>
          <p:cNvSpPr txBox="1"/>
          <p:nvPr/>
        </p:nvSpPr>
        <p:spPr>
          <a:xfrm>
            <a:off x="318051" y="2130143"/>
            <a:ext cx="11653922" cy="81560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 review on Major project entitled</a:t>
            </a:r>
            <a:r>
              <a:rPr lang="en-US" sz="2000" i="1"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“A SUPPLY CHAIN FOR SAFE DISTRIBUTION OF MEDICINES” </a:t>
            </a:r>
            <a:endParaRPr lang="en-IN" sz="25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299126" y="3089482"/>
            <a:ext cx="9588420" cy="3473515"/>
          </a:xfrm>
          <a:prstGeom prst="rect">
            <a:avLst/>
          </a:prstGeom>
          <a:noFill/>
        </p:spPr>
        <p:txBody>
          <a:bodyPr wrap="square" rtlCol="0">
            <a:spAutoFit/>
          </a:bodyPr>
          <a:lstStyle/>
          <a:p>
            <a:pPr marL="6350" marR="81915" indent="-6350" algn="ctr">
              <a:lnSpc>
                <a:spcPct val="103000"/>
              </a:lnSpc>
              <a:spcAft>
                <a:spcPts val="50"/>
              </a:spcAft>
            </a:pP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Submitted by</a:t>
            </a:r>
            <a:endParaRPr lang="en-IN" sz="1400" dirty="0">
              <a:latin typeface="Times New Roman" panose="02020603050405020304" pitchFamily="18" charset="0"/>
              <a:ea typeface="Calibri" panose="020F0502020204030204" pitchFamily="34" charset="0"/>
              <a:cs typeface="Times New Roman" panose="02020603050405020304" pitchFamily="18" charset="0"/>
            </a:endParaRPr>
          </a:p>
          <a:p>
            <a:r>
              <a:rPr lang="en-US" sz="1400" dirty="0"/>
              <a:t>                                                                                 </a:t>
            </a:r>
            <a:r>
              <a:rPr lang="en-US" sz="1400" b="1" dirty="0" err="1"/>
              <a:t>B.Richa</a:t>
            </a:r>
            <a:r>
              <a:rPr lang="en-US" sz="1400" b="1" dirty="0"/>
              <a:t> </a:t>
            </a:r>
            <a:r>
              <a:rPr lang="en-US" sz="1400" b="1" dirty="0" err="1"/>
              <a:t>Rao</a:t>
            </a:r>
            <a:r>
              <a:rPr lang="en-US" sz="1400" b="1" dirty="0"/>
              <a:t>          2SD20EC022</a:t>
            </a:r>
          </a:p>
          <a:p>
            <a:r>
              <a:rPr lang="en-US" sz="1400" b="1" dirty="0"/>
              <a:t>                                                                                 </a:t>
            </a:r>
            <a:r>
              <a:rPr lang="en-US" sz="1400" b="1" dirty="0" err="1"/>
              <a:t>Inchara</a:t>
            </a:r>
            <a:r>
              <a:rPr lang="en-US" sz="1400" b="1" dirty="0"/>
              <a:t> </a:t>
            </a:r>
            <a:r>
              <a:rPr lang="en-US" sz="1400" b="1" dirty="0" err="1"/>
              <a:t>Nayaka</a:t>
            </a:r>
            <a:r>
              <a:rPr lang="en-US" sz="1400" b="1" dirty="0"/>
              <a:t>    2SD20EC043 	</a:t>
            </a:r>
          </a:p>
          <a:p>
            <a:r>
              <a:rPr lang="en-US" sz="1400" b="1" dirty="0"/>
              <a:t>	                                                            Kiran Pujar	          2SD20EC048 	</a:t>
            </a:r>
          </a:p>
          <a:p>
            <a:r>
              <a:rPr lang="en-US" sz="1400" b="1" dirty="0"/>
              <a:t>                                                                                 </a:t>
            </a:r>
            <a:r>
              <a:rPr lang="en-US" sz="1400" b="1" dirty="0" err="1"/>
              <a:t>M.Rohan</a:t>
            </a:r>
            <a:r>
              <a:rPr lang="en-US" sz="1400" b="1" dirty="0"/>
              <a:t>	          2SD20EC053 	</a:t>
            </a:r>
            <a:endParaRPr lang="en-US" sz="1400" dirty="0"/>
          </a:p>
          <a:p>
            <a:r>
              <a:rPr lang="en-US" sz="1400" dirty="0"/>
              <a:t> </a:t>
            </a:r>
            <a:endParaRPr lang="en-US" sz="1400" b="1" dirty="0"/>
          </a:p>
          <a:p>
            <a:pPr marR="81915" algn="ctr">
              <a:lnSpc>
                <a:spcPct val="103000"/>
              </a:lnSpc>
              <a:spcAft>
                <a:spcPts val="1000"/>
              </a:spcAft>
              <a:tabLst>
                <a:tab pos="1021715" algn="l"/>
              </a:tabLst>
            </a:pP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  Students of 6</a:t>
            </a:r>
            <a:r>
              <a:rPr lang="en-US" sz="1400" b="1" baseline="30000" dirty="0">
                <a:latin typeface="Times New Roman" panose="02020603050405020304" pitchFamily="18" charset="0"/>
                <a:ea typeface="Times New Roman" panose="02020603050405020304" pitchFamily="18" charset="0"/>
                <a:cs typeface="Times New Roman" panose="02020603050405020304" pitchFamily="18" charset="0"/>
              </a:rPr>
              <a:t>th</a:t>
            </a: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 Semester ECE Department</a:t>
            </a:r>
            <a:endParaRPr lang="en-IN" sz="1400" b="1" dirty="0">
              <a:latin typeface="Times New Roman" pitchFamily="18" charset="0"/>
              <a:ea typeface="Calibri" panose="020F0502020204030204" pitchFamily="34" charset="0"/>
              <a:cs typeface="Times New Roman" pitchFamily="18" charset="0"/>
            </a:endParaRPr>
          </a:p>
          <a:p>
            <a:pPr marL="6985" marR="82550" indent="-6985" algn="ctr">
              <a:lnSpc>
                <a:spcPct val="115000"/>
              </a:lnSpc>
              <a:spcAft>
                <a:spcPts val="1200"/>
              </a:spcAft>
              <a:tabLst>
                <a:tab pos="1021715" algn="l"/>
              </a:tabLst>
            </a:pPr>
            <a:r>
              <a:rPr lang="en-IN" sz="1400" b="1" dirty="0">
                <a:latin typeface="Times New Roman" panose="02020603050405020304" pitchFamily="18" charset="0"/>
                <a:ea typeface="Times New Roman" panose="02020603050405020304" pitchFamily="18" charset="0"/>
                <a:cs typeface="Times New Roman" panose="02020603050405020304" pitchFamily="18" charset="0"/>
              </a:rPr>
              <a:t>  Under the guidance of</a:t>
            </a:r>
          </a:p>
          <a:p>
            <a:pPr marL="6985" marR="82550" indent="-6985" algn="ctr">
              <a:lnSpc>
                <a:spcPct val="115000"/>
              </a:lnSpc>
              <a:spcAft>
                <a:spcPts val="1200"/>
              </a:spcAft>
              <a:tabLst>
                <a:tab pos="1021715" algn="l"/>
              </a:tabLst>
            </a:pPr>
            <a:r>
              <a:rPr lang="en-US" sz="1400" u="sng" dirty="0"/>
              <a:t>  </a:t>
            </a:r>
            <a:r>
              <a:rPr lang="en-US" sz="1400" b="1" u="sng" dirty="0" err="1"/>
              <a:t>Dr.Jayashree.C.N</a:t>
            </a:r>
            <a:r>
              <a:rPr lang="en-US" sz="1400" b="1" u="sng" dirty="0"/>
              <a:t> </a:t>
            </a:r>
            <a:endParaRPr lang="en-IN" sz="1400" b="1" u="sng" dirty="0">
              <a:latin typeface="Times New Roman" pitchFamily="18" charset="0"/>
              <a:ea typeface="Calibri" panose="020F0502020204030204" pitchFamily="34" charset="0"/>
              <a:cs typeface="Times New Roman" pitchFamily="18" charset="0"/>
            </a:endParaRPr>
          </a:p>
          <a:p>
            <a:pPr marL="6350" marR="81915" indent="-6350" algn="ctr">
              <a:lnSpc>
                <a:spcPct val="103000"/>
              </a:lnSpc>
              <a:spcAft>
                <a:spcPts val="1000"/>
              </a:spcAft>
              <a:tabLst>
                <a:tab pos="1021715" algn="l"/>
              </a:tabLst>
            </a:pPr>
            <a:r>
              <a:rPr lang="en-IN" sz="1400" dirty="0">
                <a:latin typeface="Times New Roman" panose="02020603050405020304" pitchFamily="18" charset="0"/>
                <a:ea typeface="Times New Roman" panose="02020603050405020304" pitchFamily="18" charset="0"/>
                <a:cs typeface="Times New Roman" panose="02020603050405020304" pitchFamily="18" charset="0"/>
              </a:rPr>
              <a:t>  Department of ECE, SDMCET, Dharwad-02</a:t>
            </a:r>
            <a:endParaRPr lang="en-IN" sz="1400" dirty="0">
              <a:latin typeface="Times New Roman" pitchFamily="18" charset="0"/>
              <a:ea typeface="Calibri" panose="020F0502020204030204" pitchFamily="34" charset="0"/>
              <a:cs typeface="Times New Roman" pitchFamily="18" charset="0"/>
            </a:endParaRPr>
          </a:p>
          <a:p>
            <a:pPr marL="6350" marR="81915" indent="-6350" algn="ctr">
              <a:lnSpc>
                <a:spcPct val="103000"/>
              </a:lnSpc>
              <a:spcAft>
                <a:spcPts val="1000"/>
              </a:spcAft>
              <a:tabLst>
                <a:tab pos="1021715" algn="l"/>
              </a:tabLst>
            </a:pPr>
            <a:r>
              <a:rPr lang="en-IN" sz="14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ea typeface="Times New Roman" panose="02020603050405020304" pitchFamily="18" charset="0"/>
                <a:cs typeface="Times New Roman" pitchFamily="18" charset="0"/>
              </a:rPr>
              <a:t>Academic Year 2023-2024</a:t>
            </a:r>
            <a:endParaRPr lang="en-IN" sz="1400" dirty="0">
              <a:latin typeface="Times New Roman" pitchFamily="18" charset="0"/>
              <a:cs typeface="Times New Roman" pitchFamily="18" charset="0"/>
            </a:endParaRPr>
          </a:p>
          <a:p>
            <a:endParaRPr lang="en-US" sz="1400" dirty="0">
              <a:latin typeface="Times New Roman" panose="02020603050405020304" pitchFamily="18" charset="0"/>
              <a:cs typeface="Times New Roman" panose="02020603050405020304" pitchFamily="18" charset="0"/>
            </a:endParaRPr>
          </a:p>
        </p:txBody>
      </p:sp>
      <p:cxnSp>
        <p:nvCxnSpPr>
          <p:cNvPr id="7" name="Straight Connector 6"/>
          <p:cNvCxnSpPr/>
          <p:nvPr/>
        </p:nvCxnSpPr>
        <p:spPr>
          <a:xfrm flipV="1">
            <a:off x="1926764" y="2081666"/>
            <a:ext cx="8794142" cy="1721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5366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9017B-D269-4D52-A3B3-8213428239CA}"/>
              </a:ext>
            </a:extLst>
          </p:cNvPr>
          <p:cNvSpPr>
            <a:spLocks noGrp="1"/>
          </p:cNvSpPr>
          <p:nvPr>
            <p:ph type="title"/>
          </p:nvPr>
        </p:nvSpPr>
        <p:spPr>
          <a:xfrm>
            <a:off x="1389530" y="5213349"/>
            <a:ext cx="10515600" cy="1325563"/>
          </a:xfrm>
        </p:spPr>
        <p:txBody>
          <a:bodyPr>
            <a:normAutofit/>
          </a:bodyPr>
          <a:lstStyle/>
          <a:p>
            <a:r>
              <a:rPr lang="en-US" sz="28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A SUPPLY CHAIN FOR SAFE DISTRIBUTION OF MEDICINES”</a:t>
            </a:r>
            <a:endParaRPr lang="en-US" sz="2400" b="1" dirty="0"/>
          </a:p>
        </p:txBody>
      </p:sp>
      <p:pic>
        <p:nvPicPr>
          <p:cNvPr id="7" name="Content Placeholder 6">
            <a:extLst>
              <a:ext uri="{FF2B5EF4-FFF2-40B4-BE49-F238E27FC236}">
                <a16:creationId xmlns:a16="http://schemas.microsoft.com/office/drawing/2014/main" id="{A7510C62-24CA-414C-9017-15644DE399DF}"/>
              </a:ext>
            </a:extLst>
          </p:cNvPr>
          <p:cNvPicPr>
            <a:picLocks noGrp="1" noChangeAspect="1"/>
          </p:cNvPicPr>
          <p:nvPr>
            <p:ph idx="1"/>
          </p:nvPr>
        </p:nvPicPr>
        <p:blipFill>
          <a:blip r:embed="rId2"/>
          <a:stretch>
            <a:fillRect/>
          </a:stretch>
        </p:blipFill>
        <p:spPr>
          <a:xfrm>
            <a:off x="176055" y="703267"/>
            <a:ext cx="11612534" cy="4290074"/>
          </a:xfrm>
        </p:spPr>
      </p:pic>
      <p:sp>
        <p:nvSpPr>
          <p:cNvPr id="5" name="Slide Number Placeholder 4">
            <a:extLst>
              <a:ext uri="{FF2B5EF4-FFF2-40B4-BE49-F238E27FC236}">
                <a16:creationId xmlns:a16="http://schemas.microsoft.com/office/drawing/2014/main" id="{A114B2A1-114D-4F82-A679-7D8E713A404F}"/>
              </a:ext>
            </a:extLst>
          </p:cNvPr>
          <p:cNvSpPr>
            <a:spLocks noGrp="1"/>
          </p:cNvSpPr>
          <p:nvPr>
            <p:ph type="sldNum" sz="quarter" idx="12"/>
          </p:nvPr>
        </p:nvSpPr>
        <p:spPr/>
        <p:txBody>
          <a:bodyPr/>
          <a:lstStyle/>
          <a:p>
            <a:fld id="{6113E31D-E2AB-40D1-8B51-AFA5AFEF393A}" type="slidenum">
              <a:rPr lang="en-US" smtClean="0"/>
              <a:pPr/>
              <a:t>2</a:t>
            </a:fld>
            <a:endParaRPr lang="en-US" dirty="0"/>
          </a:p>
        </p:txBody>
      </p:sp>
    </p:spTree>
    <p:extLst>
      <p:ext uri="{BB962C8B-B14F-4D97-AF65-F5344CB8AC3E}">
        <p14:creationId xmlns:p14="http://schemas.microsoft.com/office/powerpoint/2010/main" val="4157022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684B-023D-4021-9860-1189126F613F}"/>
              </a:ext>
            </a:extLst>
          </p:cNvPr>
          <p:cNvSpPr>
            <a:spLocks noGrp="1"/>
          </p:cNvSpPr>
          <p:nvPr>
            <p:ph type="ctrTitle"/>
          </p:nvPr>
        </p:nvSpPr>
        <p:spPr>
          <a:xfrm>
            <a:off x="1317812" y="254148"/>
            <a:ext cx="9144000" cy="2387600"/>
          </a:xfrm>
        </p:spPr>
        <p:txBody>
          <a:bodyPr>
            <a:normAutofit/>
          </a:bodyPr>
          <a:lstStyle/>
          <a:p>
            <a:r>
              <a:rPr lang="en-US" sz="2000" dirty="0">
                <a:latin typeface="+mn-lt"/>
              </a:rPr>
              <a:t>pp</a:t>
            </a:r>
          </a:p>
        </p:txBody>
      </p:sp>
      <p:sp>
        <p:nvSpPr>
          <p:cNvPr id="3" name="Subtitle 2">
            <a:extLst>
              <a:ext uri="{FF2B5EF4-FFF2-40B4-BE49-F238E27FC236}">
                <a16:creationId xmlns:a16="http://schemas.microsoft.com/office/drawing/2014/main" id="{B810642F-8353-4037-8FDC-2B9E4FD9292B}"/>
              </a:ext>
            </a:extLst>
          </p:cNvPr>
          <p:cNvSpPr>
            <a:spLocks noGrp="1"/>
          </p:cNvSpPr>
          <p:nvPr>
            <p:ph type="subTitle" idx="1"/>
          </p:nvPr>
        </p:nvSpPr>
        <p:spPr/>
        <p:txBody>
          <a:bodyPr/>
          <a:lstStyle/>
          <a:p>
            <a:endParaRPr lang="en-US"/>
          </a:p>
        </p:txBody>
      </p:sp>
      <p:graphicFrame>
        <p:nvGraphicFramePr>
          <p:cNvPr id="5" name="Table 5">
            <a:extLst>
              <a:ext uri="{FF2B5EF4-FFF2-40B4-BE49-F238E27FC236}">
                <a16:creationId xmlns:a16="http://schemas.microsoft.com/office/drawing/2014/main" id="{A070F6C7-BFCE-4AB0-A0EB-3B52D09A27DB}"/>
              </a:ext>
            </a:extLst>
          </p:cNvPr>
          <p:cNvGraphicFramePr>
            <a:graphicFrameLocks noGrp="1"/>
          </p:cNvGraphicFramePr>
          <p:nvPr>
            <p:extLst>
              <p:ext uri="{D42A27DB-BD31-4B8C-83A1-F6EECF244321}">
                <p14:modId xmlns:p14="http://schemas.microsoft.com/office/powerpoint/2010/main" val="4003189859"/>
              </p:ext>
            </p:extLst>
          </p:nvPr>
        </p:nvGraphicFramePr>
        <p:xfrm>
          <a:off x="1228164" y="1120587"/>
          <a:ext cx="9439836" cy="5259469"/>
        </p:xfrm>
        <a:graphic>
          <a:graphicData uri="http://schemas.openxmlformats.org/drawingml/2006/table">
            <a:tbl>
              <a:tblPr firstRow="1" bandRow="1">
                <a:tableStyleId>{5C22544A-7EE6-4342-B048-85BDC9FD1C3A}</a:tableStyleId>
              </a:tblPr>
              <a:tblGrid>
                <a:gridCol w="808999">
                  <a:extLst>
                    <a:ext uri="{9D8B030D-6E8A-4147-A177-3AD203B41FA5}">
                      <a16:colId xmlns:a16="http://schemas.microsoft.com/office/drawing/2014/main" val="38996058"/>
                    </a:ext>
                  </a:extLst>
                </a:gridCol>
                <a:gridCol w="7661334">
                  <a:extLst>
                    <a:ext uri="{9D8B030D-6E8A-4147-A177-3AD203B41FA5}">
                      <a16:colId xmlns:a16="http://schemas.microsoft.com/office/drawing/2014/main" val="3020069730"/>
                    </a:ext>
                  </a:extLst>
                </a:gridCol>
                <a:gridCol w="969503">
                  <a:extLst>
                    <a:ext uri="{9D8B030D-6E8A-4147-A177-3AD203B41FA5}">
                      <a16:colId xmlns:a16="http://schemas.microsoft.com/office/drawing/2014/main" val="2225115025"/>
                    </a:ext>
                  </a:extLst>
                </a:gridCol>
              </a:tblGrid>
              <a:tr h="686439">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957610424"/>
                  </a:ext>
                </a:extLst>
              </a:tr>
              <a:tr h="637903">
                <a:tc>
                  <a:txBody>
                    <a:bodyPr/>
                    <a:lstStyle/>
                    <a:p>
                      <a:r>
                        <a:rPr lang="en-US" dirty="0"/>
                        <a:t>1</a:t>
                      </a:r>
                    </a:p>
                  </a:txBody>
                  <a:tcPr/>
                </a:tc>
                <a:tc>
                  <a:txBody>
                    <a:bodyPr/>
                    <a:lstStyle/>
                    <a:p>
                      <a:r>
                        <a:rPr lang="en-US" sz="1800" dirty="0">
                          <a:latin typeface="+mn-lt"/>
                        </a:rPr>
                        <a:t>Introduction</a:t>
                      </a:r>
                      <a:br>
                        <a:rPr lang="en-US" sz="1800" dirty="0">
                          <a:latin typeface="+mn-lt"/>
                        </a:rPr>
                      </a:br>
                      <a:endParaRPr lang="en-US" dirty="0"/>
                    </a:p>
                  </a:txBody>
                  <a:tcPr/>
                </a:tc>
                <a:tc>
                  <a:txBody>
                    <a:bodyPr/>
                    <a:lstStyle/>
                    <a:p>
                      <a:endParaRPr lang="en-US" dirty="0"/>
                    </a:p>
                  </a:txBody>
                  <a:tcPr/>
                </a:tc>
                <a:extLst>
                  <a:ext uri="{0D108BD9-81ED-4DB2-BD59-A6C34878D82A}">
                    <a16:rowId xmlns:a16="http://schemas.microsoft.com/office/drawing/2014/main" val="3664414800"/>
                  </a:ext>
                </a:extLst>
              </a:tr>
              <a:tr h="637903">
                <a:tc>
                  <a:txBody>
                    <a:bodyPr/>
                    <a:lstStyle/>
                    <a:p>
                      <a:r>
                        <a:rPr lang="en-US"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Literature survey</a:t>
                      </a:r>
                    </a:p>
                    <a:p>
                      <a:endParaRPr lang="en-US" dirty="0"/>
                    </a:p>
                  </a:txBody>
                  <a:tcPr/>
                </a:tc>
                <a:tc>
                  <a:txBody>
                    <a:bodyPr/>
                    <a:lstStyle/>
                    <a:p>
                      <a:endParaRPr lang="en-US" dirty="0"/>
                    </a:p>
                  </a:txBody>
                  <a:tcPr/>
                </a:tc>
                <a:extLst>
                  <a:ext uri="{0D108BD9-81ED-4DB2-BD59-A6C34878D82A}">
                    <a16:rowId xmlns:a16="http://schemas.microsoft.com/office/drawing/2014/main" val="3767680276"/>
                  </a:ext>
                </a:extLst>
              </a:tr>
              <a:tr h="637903">
                <a:tc>
                  <a:txBody>
                    <a:bodyPr/>
                    <a:lstStyle/>
                    <a:p>
                      <a:r>
                        <a:rPr lang="en-US" dirty="0"/>
                        <a:t>3</a:t>
                      </a:r>
                    </a:p>
                  </a:txBody>
                  <a:tcPr/>
                </a:tc>
                <a:tc>
                  <a:txBody>
                    <a:bodyPr/>
                    <a:lstStyle/>
                    <a:p>
                      <a:r>
                        <a:rPr lang="en-US" sz="1800" dirty="0">
                          <a:latin typeface="+mn-lt"/>
                        </a:rPr>
                        <a:t>Problems with Existing System and Proposed solution</a:t>
                      </a:r>
                    </a:p>
                    <a:p>
                      <a:endParaRPr lang="en-US" dirty="0"/>
                    </a:p>
                  </a:txBody>
                  <a:tcPr/>
                </a:tc>
                <a:tc>
                  <a:txBody>
                    <a:bodyPr/>
                    <a:lstStyle/>
                    <a:p>
                      <a:endParaRPr lang="en-US" dirty="0"/>
                    </a:p>
                  </a:txBody>
                  <a:tcPr/>
                </a:tc>
                <a:extLst>
                  <a:ext uri="{0D108BD9-81ED-4DB2-BD59-A6C34878D82A}">
                    <a16:rowId xmlns:a16="http://schemas.microsoft.com/office/drawing/2014/main" val="743062573"/>
                  </a:ext>
                </a:extLst>
              </a:tr>
              <a:tr h="427654">
                <a:tc>
                  <a:txBody>
                    <a:bodyPr/>
                    <a:lstStyle/>
                    <a:p>
                      <a:r>
                        <a:rPr lang="en-US" dirty="0"/>
                        <a:t>4</a:t>
                      </a:r>
                    </a:p>
                  </a:txBody>
                  <a:tcPr/>
                </a:tc>
                <a:tc>
                  <a:txBody>
                    <a:bodyPr/>
                    <a:lstStyle/>
                    <a:p>
                      <a:r>
                        <a:rPr lang="en-US" sz="1800" dirty="0">
                          <a:latin typeface="+mn-lt"/>
                        </a:rPr>
                        <a:t>Problem Statement &amp; Objectives </a:t>
                      </a:r>
                      <a:endParaRPr lang="en-US" dirty="0"/>
                    </a:p>
                  </a:txBody>
                  <a:tcPr/>
                </a:tc>
                <a:tc>
                  <a:txBody>
                    <a:bodyPr/>
                    <a:lstStyle/>
                    <a:p>
                      <a:endParaRPr lang="en-US" dirty="0"/>
                    </a:p>
                  </a:txBody>
                  <a:tcPr/>
                </a:tc>
                <a:extLst>
                  <a:ext uri="{0D108BD9-81ED-4DB2-BD59-A6C34878D82A}">
                    <a16:rowId xmlns:a16="http://schemas.microsoft.com/office/drawing/2014/main" val="2516910027"/>
                  </a:ext>
                </a:extLst>
              </a:tr>
              <a:tr h="427654">
                <a:tc>
                  <a:txBody>
                    <a:bodyPr/>
                    <a:lstStyle/>
                    <a:p>
                      <a:r>
                        <a:rPr lang="en-US" dirty="0"/>
                        <a:t>5</a:t>
                      </a:r>
                    </a:p>
                  </a:txBody>
                  <a:tcPr/>
                </a:tc>
                <a:tc>
                  <a:txBody>
                    <a:bodyPr/>
                    <a:lstStyle/>
                    <a:p>
                      <a:r>
                        <a:rPr lang="en-US" sz="1800" dirty="0">
                          <a:latin typeface="+mn-lt"/>
                        </a:rPr>
                        <a:t>Research Gaps</a:t>
                      </a:r>
                      <a:endParaRPr lang="en-US" dirty="0"/>
                    </a:p>
                  </a:txBody>
                  <a:tcPr/>
                </a:tc>
                <a:tc>
                  <a:txBody>
                    <a:bodyPr/>
                    <a:lstStyle/>
                    <a:p>
                      <a:endParaRPr lang="en-US" dirty="0"/>
                    </a:p>
                  </a:txBody>
                  <a:tcPr/>
                </a:tc>
                <a:extLst>
                  <a:ext uri="{0D108BD9-81ED-4DB2-BD59-A6C34878D82A}">
                    <a16:rowId xmlns:a16="http://schemas.microsoft.com/office/drawing/2014/main" val="3617407017"/>
                  </a:ext>
                </a:extLst>
              </a:tr>
              <a:tr h="427654">
                <a:tc>
                  <a:txBody>
                    <a:bodyPr/>
                    <a:lstStyle/>
                    <a:p>
                      <a:r>
                        <a:rPr lang="en-US" dirty="0"/>
                        <a:t>6</a:t>
                      </a:r>
                    </a:p>
                  </a:txBody>
                  <a:tcPr/>
                </a:tc>
                <a:tc>
                  <a:txBody>
                    <a:bodyPr/>
                    <a:lstStyle/>
                    <a:p>
                      <a:r>
                        <a:rPr lang="en-US" sz="1800" dirty="0">
                          <a:latin typeface="+mn-lt"/>
                        </a:rPr>
                        <a:t>Functions of Blockchain &amp; ganache</a:t>
                      </a:r>
                      <a:endParaRPr lang="en-US" dirty="0"/>
                    </a:p>
                  </a:txBody>
                  <a:tcPr/>
                </a:tc>
                <a:tc>
                  <a:txBody>
                    <a:bodyPr/>
                    <a:lstStyle/>
                    <a:p>
                      <a:endParaRPr lang="en-US" dirty="0"/>
                    </a:p>
                  </a:txBody>
                  <a:tcPr/>
                </a:tc>
                <a:extLst>
                  <a:ext uri="{0D108BD9-81ED-4DB2-BD59-A6C34878D82A}">
                    <a16:rowId xmlns:a16="http://schemas.microsoft.com/office/drawing/2014/main" val="3053384424"/>
                  </a:ext>
                </a:extLst>
              </a:tr>
              <a:tr h="427654">
                <a:tc>
                  <a:txBody>
                    <a:bodyPr/>
                    <a:lstStyle/>
                    <a:p>
                      <a:r>
                        <a:rPr lang="en-US" dirty="0"/>
                        <a:t>7</a:t>
                      </a:r>
                    </a:p>
                  </a:txBody>
                  <a:tcPr/>
                </a:tc>
                <a:tc>
                  <a:txBody>
                    <a:bodyPr/>
                    <a:lstStyle/>
                    <a:p>
                      <a:r>
                        <a:rPr lang="en-US" dirty="0"/>
                        <a:t>Advantages</a:t>
                      </a:r>
                    </a:p>
                  </a:txBody>
                  <a:tcPr/>
                </a:tc>
                <a:tc>
                  <a:txBody>
                    <a:bodyPr/>
                    <a:lstStyle/>
                    <a:p>
                      <a:endParaRPr lang="en-US" dirty="0"/>
                    </a:p>
                  </a:txBody>
                  <a:tcPr/>
                </a:tc>
                <a:extLst>
                  <a:ext uri="{0D108BD9-81ED-4DB2-BD59-A6C34878D82A}">
                    <a16:rowId xmlns:a16="http://schemas.microsoft.com/office/drawing/2014/main" val="2047824606"/>
                  </a:ext>
                </a:extLst>
              </a:tr>
              <a:tr h="427654">
                <a:tc>
                  <a:txBody>
                    <a:bodyPr/>
                    <a:lstStyle/>
                    <a:p>
                      <a:r>
                        <a:rPr lang="en-US" dirty="0"/>
                        <a:t>8</a:t>
                      </a:r>
                    </a:p>
                  </a:txBody>
                  <a:tcPr/>
                </a:tc>
                <a:tc>
                  <a:txBody>
                    <a:bodyPr/>
                    <a:lstStyle/>
                    <a:p>
                      <a:r>
                        <a:rPr lang="en-US" dirty="0"/>
                        <a:t>Implementation</a:t>
                      </a:r>
                    </a:p>
                  </a:txBody>
                  <a:tcPr/>
                </a:tc>
                <a:tc>
                  <a:txBody>
                    <a:bodyPr/>
                    <a:lstStyle/>
                    <a:p>
                      <a:endParaRPr lang="en-US" dirty="0"/>
                    </a:p>
                  </a:txBody>
                  <a:tcPr/>
                </a:tc>
                <a:extLst>
                  <a:ext uri="{0D108BD9-81ED-4DB2-BD59-A6C34878D82A}">
                    <a16:rowId xmlns:a16="http://schemas.microsoft.com/office/drawing/2014/main" val="2129942213"/>
                  </a:ext>
                </a:extLst>
              </a:tr>
              <a:tr h="514520">
                <a:tc>
                  <a:txBody>
                    <a:bodyPr/>
                    <a:lstStyle/>
                    <a:p>
                      <a:r>
                        <a:rPr lang="en-US" dirty="0"/>
                        <a:t>9</a:t>
                      </a:r>
                    </a:p>
                  </a:txBody>
                  <a:tcPr/>
                </a:tc>
                <a:tc>
                  <a:txBody>
                    <a:bodyPr/>
                    <a:lstStyle/>
                    <a:p>
                      <a:r>
                        <a:rPr lang="en-US" dirty="0"/>
                        <a:t>References</a:t>
                      </a:r>
                    </a:p>
                  </a:txBody>
                  <a:tcPr/>
                </a:tc>
                <a:tc>
                  <a:txBody>
                    <a:bodyPr/>
                    <a:lstStyle/>
                    <a:p>
                      <a:endParaRPr lang="en-US" dirty="0"/>
                    </a:p>
                  </a:txBody>
                  <a:tcPr/>
                </a:tc>
                <a:extLst>
                  <a:ext uri="{0D108BD9-81ED-4DB2-BD59-A6C34878D82A}">
                    <a16:rowId xmlns:a16="http://schemas.microsoft.com/office/drawing/2014/main" val="3529835558"/>
                  </a:ext>
                </a:extLst>
              </a:tr>
            </a:tbl>
          </a:graphicData>
        </a:graphic>
      </p:graphicFrame>
      <p:sp>
        <p:nvSpPr>
          <p:cNvPr id="6" name="TextBox 5">
            <a:extLst>
              <a:ext uri="{FF2B5EF4-FFF2-40B4-BE49-F238E27FC236}">
                <a16:creationId xmlns:a16="http://schemas.microsoft.com/office/drawing/2014/main" id="{3092A6CB-C2C9-45DF-8CFE-252C33DACB47}"/>
              </a:ext>
            </a:extLst>
          </p:cNvPr>
          <p:cNvSpPr txBox="1"/>
          <p:nvPr/>
        </p:nvSpPr>
        <p:spPr>
          <a:xfrm>
            <a:off x="3944470" y="160297"/>
            <a:ext cx="5450541" cy="646331"/>
          </a:xfrm>
          <a:prstGeom prst="rect">
            <a:avLst/>
          </a:prstGeom>
          <a:noFill/>
        </p:spPr>
        <p:txBody>
          <a:bodyPr wrap="square" rtlCol="0">
            <a:spAutoFit/>
          </a:bodyPr>
          <a:lstStyle/>
          <a:p>
            <a:r>
              <a:rPr lang="en-US" sz="3600" b="1" dirty="0"/>
              <a:t>Presentation outline</a:t>
            </a:r>
          </a:p>
        </p:txBody>
      </p:sp>
    </p:spTree>
    <p:extLst>
      <p:ext uri="{BB962C8B-B14F-4D97-AF65-F5344CB8AC3E}">
        <p14:creationId xmlns:p14="http://schemas.microsoft.com/office/powerpoint/2010/main" val="3004644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172" y="378738"/>
            <a:ext cx="11417194" cy="5293757"/>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                                     Introduction</a:t>
            </a:r>
          </a:p>
          <a:p>
            <a:endParaRPr lang="en-US" sz="3600" b="1" u="sng"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pharmaceutical supply chain network is a mechanism by which manufactured prescription medications are distributed to the patients.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Tampering within the supply chain and counterfeit products pose a serious threat as it is difficult to investigate the true value of the medicine.</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Strong and elegant supply chains and a prompt customer service are the two key factors that define a successful logistic company.</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we propose a system called Blockchain which helps in solving the threat and also helps in improving Customer Service.</a:t>
            </a:r>
          </a:p>
          <a:p>
            <a:pPr marL="457200"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85CF097-A244-3913-B0B4-BA8BFCEE1792}"/>
              </a:ext>
            </a:extLst>
          </p:cNvPr>
          <p:cNvSpPr>
            <a:spLocks noGrp="1"/>
          </p:cNvSpPr>
          <p:nvPr>
            <p:ph type="sldNum" sz="quarter" idx="12"/>
          </p:nvPr>
        </p:nvSpPr>
        <p:spPr>
          <a:xfrm>
            <a:off x="10656054" y="6400739"/>
            <a:ext cx="753545" cy="365125"/>
          </a:xfrm>
        </p:spPr>
        <p:txBody>
          <a:bodyPr/>
          <a:lstStyle/>
          <a:p>
            <a:fld id="{4FAB73BC-B049-4115-A692-8D63A059BFB8}" type="slidenum">
              <a:rPr lang="en-US" smtClean="0"/>
              <a:pPr/>
              <a:t>4</a:t>
            </a:fld>
            <a:endParaRPr lang="en-US" dirty="0"/>
          </a:p>
        </p:txBody>
      </p:sp>
    </p:spTree>
    <p:extLst>
      <p:ext uri="{BB962C8B-B14F-4D97-AF65-F5344CB8AC3E}">
        <p14:creationId xmlns:p14="http://schemas.microsoft.com/office/powerpoint/2010/main" val="1874110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E1C02FB-4B96-A552-EC12-814D14262AA3}"/>
              </a:ext>
            </a:extLst>
          </p:cNvPr>
          <p:cNvSpPr>
            <a:spLocks noGrp="1"/>
          </p:cNvSpPr>
          <p:nvPr>
            <p:ph type="sldNum" sz="quarter" idx="12"/>
          </p:nvPr>
        </p:nvSpPr>
        <p:spPr>
          <a:xfrm>
            <a:off x="10780341" y="6323244"/>
            <a:ext cx="753545" cy="365125"/>
          </a:xfrm>
        </p:spPr>
        <p:txBody>
          <a:bodyPr/>
          <a:lstStyle/>
          <a:p>
            <a:fld id="{4FAB73BC-B049-4115-A692-8D63A059BFB8}" type="slidenum">
              <a:rPr lang="en-US" smtClean="0">
                <a:latin typeface="Times New Roman" panose="02020603050405020304" pitchFamily="18" charset="0"/>
                <a:cs typeface="Times New Roman" panose="02020603050405020304" pitchFamily="18" charset="0"/>
              </a:rPr>
              <a:pPr/>
              <a:t>5</a:t>
            </a:fld>
            <a:endParaRPr lang="en-US"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A7AAD56-BC1A-1A54-D78D-C42CB300B026}"/>
              </a:ext>
            </a:extLst>
          </p:cNvPr>
          <p:cNvSpPr txBox="1"/>
          <p:nvPr/>
        </p:nvSpPr>
        <p:spPr>
          <a:xfrm>
            <a:off x="2009056" y="259277"/>
            <a:ext cx="6097554"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                   Literature survey</a:t>
            </a:r>
            <a:endParaRPr lang="en-IN" sz="32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E625ED77-9398-1F15-80C0-0187C7CCA525}"/>
              </a:ext>
            </a:extLst>
          </p:cNvPr>
          <p:cNvGraphicFramePr>
            <a:graphicFrameLocks noGrp="1"/>
          </p:cNvGraphicFramePr>
          <p:nvPr>
            <p:extLst>
              <p:ext uri="{D42A27DB-BD31-4B8C-83A1-F6EECF244321}">
                <p14:modId xmlns:p14="http://schemas.microsoft.com/office/powerpoint/2010/main" val="2579773610"/>
              </p:ext>
            </p:extLst>
          </p:nvPr>
        </p:nvGraphicFramePr>
        <p:xfrm>
          <a:off x="175759" y="1169740"/>
          <a:ext cx="11840482" cy="5518629"/>
        </p:xfrm>
        <a:graphic>
          <a:graphicData uri="http://schemas.openxmlformats.org/drawingml/2006/table">
            <a:tbl>
              <a:tblPr firstRow="1" bandRow="1">
                <a:tableStyleId>{5C22544A-7EE6-4342-B048-85BDC9FD1C3A}</a:tableStyleId>
              </a:tblPr>
              <a:tblGrid>
                <a:gridCol w="1802306">
                  <a:extLst>
                    <a:ext uri="{9D8B030D-6E8A-4147-A177-3AD203B41FA5}">
                      <a16:colId xmlns:a16="http://schemas.microsoft.com/office/drawing/2014/main" val="4229854709"/>
                    </a:ext>
                  </a:extLst>
                </a:gridCol>
                <a:gridCol w="3131142">
                  <a:extLst>
                    <a:ext uri="{9D8B030D-6E8A-4147-A177-3AD203B41FA5}">
                      <a16:colId xmlns:a16="http://schemas.microsoft.com/office/drawing/2014/main" val="3038178851"/>
                    </a:ext>
                  </a:extLst>
                </a:gridCol>
                <a:gridCol w="5133361">
                  <a:extLst>
                    <a:ext uri="{9D8B030D-6E8A-4147-A177-3AD203B41FA5}">
                      <a16:colId xmlns:a16="http://schemas.microsoft.com/office/drawing/2014/main" val="2215737810"/>
                    </a:ext>
                  </a:extLst>
                </a:gridCol>
                <a:gridCol w="1773673">
                  <a:extLst>
                    <a:ext uri="{9D8B030D-6E8A-4147-A177-3AD203B41FA5}">
                      <a16:colId xmlns:a16="http://schemas.microsoft.com/office/drawing/2014/main" val="581323843"/>
                    </a:ext>
                  </a:extLst>
                </a:gridCol>
              </a:tblGrid>
              <a:tr h="514815">
                <a:tc>
                  <a:txBody>
                    <a:bodyPr/>
                    <a:lstStyle/>
                    <a:p>
                      <a:r>
                        <a:rPr lang="en-IN" sz="2000" b="1" u="sng" dirty="0">
                          <a:effectLst/>
                          <a:latin typeface="Times New Roman" panose="02020603050405020304" pitchFamily="18" charset="0"/>
                          <a:ea typeface="Calibri"/>
                          <a:cs typeface="Times New Roman" panose="02020603050405020304" pitchFamily="18" charset="0"/>
                        </a:rPr>
                        <a:t>PAPERS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1" u="sng" dirty="0">
                          <a:effectLst/>
                          <a:latin typeface="Times New Roman" panose="02020603050405020304" pitchFamily="18" charset="0"/>
                          <a:ea typeface="Calibri"/>
                          <a:cs typeface="Times New Roman" panose="02020603050405020304" pitchFamily="18" charset="0"/>
                        </a:rPr>
                        <a:t>TITLE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1" u="sng" dirty="0">
                          <a:effectLst/>
                          <a:latin typeface="Times New Roman" panose="02020603050405020304" pitchFamily="18" charset="0"/>
                          <a:ea typeface="Calibri"/>
                          <a:cs typeface="Times New Roman" panose="02020603050405020304" pitchFamily="18" charset="0"/>
                        </a:rPr>
                        <a:t>AUTHOR</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u="sng" dirty="0">
                          <a:latin typeface="Times New Roman" pitchFamily="18" charset="0"/>
                          <a:cs typeface="Times New Roman" pitchFamily="18" charset="0"/>
                        </a:rPr>
                        <a:t>YEAR</a:t>
                      </a:r>
                      <a:endParaRPr lang="en-IN" sz="2000" u="sng" dirty="0">
                        <a:latin typeface="Times New Roman" pitchFamily="18" charset="0"/>
                        <a:cs typeface="Times New Roman" pitchFamily="18" charset="0"/>
                      </a:endParaRPr>
                    </a:p>
                  </a:txBody>
                  <a:tcPr/>
                </a:tc>
                <a:extLst>
                  <a:ext uri="{0D108BD9-81ED-4DB2-BD59-A6C34878D82A}">
                    <a16:rowId xmlns:a16="http://schemas.microsoft.com/office/drawing/2014/main" val="3940080800"/>
                  </a:ext>
                </a:extLst>
              </a:tr>
              <a:tr h="10068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effectLst/>
                          <a:latin typeface="Times New Roman" panose="02020603050405020304" pitchFamily="18" charset="0"/>
                          <a:ea typeface="Calibri"/>
                          <a:cs typeface="Times New Roman" panose="02020603050405020304" pitchFamily="18" charset="0"/>
                        </a:rPr>
                        <a:t>PAPER 1</a:t>
                      </a:r>
                    </a:p>
                    <a:p>
                      <a:endParaRPr lang="en-IN" sz="2000" dirty="0">
                        <a:latin typeface="Times New Roman" panose="02020603050405020304" pitchFamily="18" charset="0"/>
                        <a:cs typeface="Times New Roman" panose="02020603050405020304" pitchFamily="18" charset="0"/>
                      </a:endParaRPr>
                    </a:p>
                  </a:txBody>
                  <a:tcPr/>
                </a:tc>
                <a:tc>
                  <a:txBody>
                    <a:bodyPr/>
                    <a:lstStyle/>
                    <a:p>
                      <a:r>
                        <a:rPr lang="en-US" b="0" dirty="0"/>
                        <a:t>Strengthening and transforming the pharmaceutical supply chain</a:t>
                      </a:r>
                    </a:p>
                    <a:p>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 J. Augustin Jacob</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2018</a:t>
                      </a:r>
                    </a:p>
                  </a:txBody>
                  <a:tcPr/>
                </a:tc>
                <a:extLst>
                  <a:ext uri="{0D108BD9-81ED-4DB2-BD59-A6C34878D82A}">
                    <a16:rowId xmlns:a16="http://schemas.microsoft.com/office/drawing/2014/main" val="2990452050"/>
                  </a:ext>
                </a:extLst>
              </a:tr>
              <a:tr h="14533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effectLst/>
                          <a:latin typeface="Times New Roman" panose="02020603050405020304" pitchFamily="18" charset="0"/>
                          <a:ea typeface="Calibri"/>
                          <a:cs typeface="Times New Roman" panose="02020603050405020304" pitchFamily="18" charset="0"/>
                        </a:rPr>
                        <a:t>PAPER 2</a:t>
                      </a:r>
                    </a:p>
                    <a:p>
                      <a:endParaRPr lang="en-IN" sz="20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latin typeface="+mn-lt"/>
                          <a:ea typeface="+mn-ea"/>
                          <a:cs typeface="+mn-cs"/>
                        </a:rPr>
                        <a:t>Supply Chain Challenges in Pharmaceutical Manufacturing Companies</a:t>
                      </a:r>
                    </a:p>
                    <a:p>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err="1">
                          <a:latin typeface="Times New Roman" panose="02020603050405020304" pitchFamily="18" charset="0"/>
                          <a:cs typeface="Times New Roman" panose="02020603050405020304" pitchFamily="18" charset="0"/>
                        </a:rPr>
                        <a:t>Arkadiy</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Morgenshtein</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 2004</a:t>
                      </a:r>
                    </a:p>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70703561"/>
                  </a:ext>
                </a:extLst>
              </a:tr>
              <a:tr h="14533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effectLst/>
                          <a:latin typeface="Times New Roman" panose="02020603050405020304" pitchFamily="18" charset="0"/>
                          <a:ea typeface="Calibri"/>
                          <a:cs typeface="Times New Roman" panose="02020603050405020304" pitchFamily="18" charset="0"/>
                        </a:rPr>
                        <a:t>PAPER 3</a:t>
                      </a: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1800" b="0" i="0" kern="1200" dirty="0">
                          <a:solidFill>
                            <a:schemeClr val="dk1"/>
                          </a:solidFill>
                          <a:latin typeface="+mn-lt"/>
                          <a:ea typeface="+mn-ea"/>
                          <a:cs typeface="+mn-cs"/>
                        </a:rPr>
                        <a:t>Four ways </a:t>
                      </a:r>
                      <a:r>
                        <a:rPr lang="en-US" sz="1800" b="0" i="0" kern="1200" dirty="0" err="1">
                          <a:solidFill>
                            <a:schemeClr val="dk1"/>
                          </a:solidFill>
                          <a:latin typeface="+mn-lt"/>
                          <a:ea typeface="+mn-ea"/>
                          <a:cs typeface="+mn-cs"/>
                        </a:rPr>
                        <a:t>pharma</a:t>
                      </a:r>
                      <a:r>
                        <a:rPr lang="en-US" sz="1800" b="0" i="0" kern="1200" dirty="0">
                          <a:solidFill>
                            <a:schemeClr val="dk1"/>
                          </a:solidFill>
                          <a:latin typeface="+mn-lt"/>
                          <a:ea typeface="+mn-ea"/>
                          <a:cs typeface="+mn-cs"/>
                        </a:rPr>
                        <a:t> companies can make their supply chains more resilient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1800" kern="1200" dirty="0">
                          <a:solidFill>
                            <a:schemeClr val="dk1"/>
                          </a:solidFill>
                          <a:effectLst/>
                          <a:latin typeface="Times New Roman" panose="02020603050405020304" pitchFamily="18" charset="0"/>
                          <a:ea typeface="+mn-ea"/>
                          <a:cs typeface="Times New Roman" panose="02020603050405020304" pitchFamily="18" charset="0"/>
                        </a:rPr>
                        <a:t>Abin Satheesan, Geethiga </a:t>
                      </a:r>
                      <a:endParaRPr lang="en-IN" sz="2000" dirty="0">
                        <a:effectLst/>
                        <a:latin typeface="Times New Roman" panose="02020603050405020304" pitchFamily="18" charset="0"/>
                        <a:ea typeface="Calibri"/>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 2002</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37531420"/>
                  </a:ext>
                </a:extLst>
              </a:tr>
              <a:tr h="908356">
                <a:tc>
                  <a:txBody>
                    <a:bodyPr/>
                    <a:lstStyle/>
                    <a:p>
                      <a:r>
                        <a:rPr lang="en-IN" sz="2000" dirty="0">
                          <a:latin typeface="Times New Roman" panose="02020603050405020304" pitchFamily="18" charset="0"/>
                          <a:cs typeface="Times New Roman" panose="02020603050405020304" pitchFamily="18" charset="0"/>
                        </a:rPr>
                        <a:t>PAPER 4</a:t>
                      </a:r>
                    </a:p>
                  </a:txBody>
                  <a:tcPr/>
                </a:tc>
                <a:tc>
                  <a:txBody>
                    <a:bodyPr/>
                    <a:lstStyle/>
                    <a:p>
                      <a:r>
                        <a:rPr lang="en-US" sz="2000" dirty="0" err="1">
                          <a:latin typeface="Times New Roman" panose="02020603050405020304" pitchFamily="18" charset="0"/>
                          <a:cs typeface="Times New Roman" panose="02020603050405020304" pitchFamily="18" charset="0"/>
                        </a:rPr>
                        <a:t>Pharma</a:t>
                      </a:r>
                      <a:r>
                        <a:rPr lang="en-US" sz="2000" dirty="0">
                          <a:latin typeface="Times New Roman" panose="02020603050405020304" pitchFamily="18" charset="0"/>
                          <a:cs typeface="Times New Roman" panose="02020603050405020304" pitchFamily="18" charset="0"/>
                        </a:rPr>
                        <a:t> supply chain 360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Arvind Kumar Mishral , Debiprasad Priyabrata Acharya, Pradip Kumar Patra</a:t>
                      </a:r>
                      <a:r>
                        <a:rPr lang="en-IN" sz="2000" dirty="0">
                          <a:latin typeface="Times New Roman" panose="02020603050405020304" pitchFamily="18" charset="0"/>
                          <a:cs typeface="Times New Roman" panose="02020603050405020304" pitchFamily="18" charset="0"/>
                        </a:rPr>
                        <a:t> </a:t>
                      </a:r>
                    </a:p>
                  </a:txBody>
                  <a:tcPr/>
                </a:tc>
                <a:tc>
                  <a:txBody>
                    <a:bodyPr/>
                    <a:lstStyle/>
                    <a:p>
                      <a:r>
                        <a:rPr lang="en-US" sz="2000" dirty="0">
                          <a:latin typeface="Times New Roman" panose="02020603050405020304" pitchFamily="18" charset="0"/>
                          <a:cs typeface="Times New Roman" panose="02020603050405020304" pitchFamily="18" charset="0"/>
                        </a:rPr>
                        <a:t>2009</a:t>
                      </a:r>
                    </a:p>
                  </a:txBody>
                  <a:tcPr/>
                </a:tc>
                <a:extLst>
                  <a:ext uri="{0D108BD9-81ED-4DB2-BD59-A6C34878D82A}">
                    <a16:rowId xmlns:a16="http://schemas.microsoft.com/office/drawing/2014/main" val="2640338161"/>
                  </a:ext>
                </a:extLst>
              </a:tr>
            </a:tbl>
          </a:graphicData>
        </a:graphic>
      </p:graphicFrame>
    </p:spTree>
    <p:extLst>
      <p:ext uri="{BB962C8B-B14F-4D97-AF65-F5344CB8AC3E}">
        <p14:creationId xmlns:p14="http://schemas.microsoft.com/office/powerpoint/2010/main" val="329919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747" y="484094"/>
            <a:ext cx="11326266" cy="5447645"/>
          </a:xfrm>
          <a:prstGeom prst="rect">
            <a:avLst/>
          </a:prstGeom>
          <a:noFill/>
        </p:spPr>
        <p:txBody>
          <a:bodyPr wrap="square" rtlCol="0">
            <a:spAutoFit/>
          </a:bodyPr>
          <a:lstStyle/>
          <a:p>
            <a:pPr algn="just"/>
            <a:r>
              <a:rPr lang="en-US" sz="3600" b="1" dirty="0">
                <a:latin typeface="Times New Roman" panose="02020603050405020304" pitchFamily="18" charset="0"/>
                <a:cs typeface="Times New Roman" panose="02020603050405020304" pitchFamily="18" charset="0"/>
              </a:rPr>
              <a:t>Problems with existing system and  proposed solutions</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u="sng" dirty="0">
                <a:latin typeface="Times New Roman" panose="02020603050405020304" pitchFamily="18" charset="0"/>
                <a:cs typeface="Times New Roman" panose="02020603050405020304" pitchFamily="18" charset="0"/>
              </a:rPr>
              <a:t>UNTRUSTED SUPPLY CHAIN</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It's incredibly difficult for customers or buyers to truly know the value of products because there is a significant lack of transparency in the current system.</a:t>
            </a:r>
          </a:p>
          <a:p>
            <a:pPr marL="342900" indent="-342900" algn="just">
              <a:buFont typeface="Arial" panose="020B0604020202020204" pitchFamily="34" charset="0"/>
              <a:buChar char="•"/>
            </a:pPr>
            <a:r>
              <a:rPr lang="en-US" sz="2400" u="sng" dirty="0">
                <a:latin typeface="Times New Roman" panose="02020603050405020304" pitchFamily="18" charset="0"/>
                <a:cs typeface="Times New Roman" panose="02020603050405020304" pitchFamily="18" charset="0"/>
              </a:rPr>
              <a:t>TAMPERING WITHIN THE CHAIN</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a similar way, it's extremely difficult to investigate supply chains when there is suspicion of illegal or unethical practices.</a:t>
            </a:r>
          </a:p>
          <a:p>
            <a:pPr marL="342900" indent="-342900" algn="just">
              <a:buFont typeface="Arial" panose="020B0604020202020204" pitchFamily="34" charset="0"/>
              <a:buChar char="•"/>
            </a:pPr>
            <a:r>
              <a:rPr lang="en-US" sz="2400" u="sng" dirty="0">
                <a:latin typeface="Times New Roman" panose="02020603050405020304" pitchFamily="18" charset="0"/>
                <a:cs typeface="Times New Roman" panose="02020603050405020304" pitchFamily="18" charset="0"/>
              </a:rPr>
              <a:t>INEFFICIENCY IN DELIVERY</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They can also be highly inefficient as vendors and suppliers try to connect the dots on who needs what, when and how.  </a:t>
            </a:r>
          </a:p>
          <a:p>
            <a:pPr marL="342900" indent="-342900" algn="just">
              <a:buFont typeface="Arial" panose="020B0604020202020204" pitchFamily="34" charset="0"/>
              <a:buChar char="•"/>
            </a:pPr>
            <a:r>
              <a:rPr lang="en-US" sz="2400" u="sng" dirty="0">
                <a:latin typeface="Times New Roman" panose="02020603050405020304" pitchFamily="18" charset="0"/>
                <a:cs typeface="Times New Roman" panose="02020603050405020304" pitchFamily="18" charset="0"/>
              </a:rPr>
              <a:t>POOR CUSTOMER SERVICE</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Customer experience should always be a top focus for any business. Keeping existing customers happy gives businesses a much better return than having to constantly find new</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3245816" y="6377464"/>
            <a:ext cx="5830995" cy="365125"/>
          </a:xfrm>
        </p:spPr>
        <p:txBody>
          <a:bodyPr/>
          <a:lstStyle/>
          <a:p>
            <a:r>
              <a:rPr lang="en-US"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a:xfrm>
            <a:off x="10576154" y="6377464"/>
            <a:ext cx="753545" cy="365125"/>
          </a:xfrm>
        </p:spPr>
        <p:txBody>
          <a:bodyPr/>
          <a:lstStyle/>
          <a:p>
            <a:r>
              <a:rPr lang="en-US"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227733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5A81C5D-F424-F6AD-0AEF-C09F6A717022}"/>
              </a:ext>
            </a:extLst>
          </p:cNvPr>
          <p:cNvSpPr>
            <a:spLocks noGrp="1"/>
          </p:cNvSpPr>
          <p:nvPr>
            <p:ph type="sldNum" sz="quarter" idx="12"/>
          </p:nvPr>
        </p:nvSpPr>
        <p:spPr>
          <a:xfrm>
            <a:off x="8573277" y="6356350"/>
            <a:ext cx="2743200" cy="365125"/>
          </a:xfrm>
        </p:spPr>
        <p:txBody>
          <a:bodyPr/>
          <a:lstStyle/>
          <a:p>
            <a:fld id="{4FAB73BC-B049-4115-A692-8D63A059BFB8}" type="slidenum">
              <a:rPr lang="en-US" smtClean="0"/>
              <a:pPr/>
              <a:t>7</a:t>
            </a:fld>
            <a:endParaRPr lang="en-US" dirty="0"/>
          </a:p>
        </p:txBody>
      </p:sp>
      <p:sp>
        <p:nvSpPr>
          <p:cNvPr id="7" name="TextBox 6">
            <a:extLst>
              <a:ext uri="{FF2B5EF4-FFF2-40B4-BE49-F238E27FC236}">
                <a16:creationId xmlns:a16="http://schemas.microsoft.com/office/drawing/2014/main" id="{D13BF8C1-590B-6CFF-E1D6-8FAD050A5F02}"/>
              </a:ext>
            </a:extLst>
          </p:cNvPr>
          <p:cNvSpPr txBox="1"/>
          <p:nvPr/>
        </p:nvSpPr>
        <p:spPr>
          <a:xfrm>
            <a:off x="2102726" y="504942"/>
            <a:ext cx="10618192" cy="646331"/>
          </a:xfrm>
          <a:prstGeom prst="rect">
            <a:avLst/>
          </a:prstGeom>
          <a:noFill/>
        </p:spPr>
        <p:txBody>
          <a:bodyPr wrap="square">
            <a:spAutoFit/>
          </a:bodyPr>
          <a:lstStyle/>
          <a:p>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                Problem statement </a:t>
            </a:r>
            <a:endParaRPr lang="en-US" sz="3600" dirty="0"/>
          </a:p>
        </p:txBody>
      </p:sp>
      <p:sp>
        <p:nvSpPr>
          <p:cNvPr id="4" name="TextBox 3">
            <a:extLst>
              <a:ext uri="{FF2B5EF4-FFF2-40B4-BE49-F238E27FC236}">
                <a16:creationId xmlns:a16="http://schemas.microsoft.com/office/drawing/2014/main" id="{DAB3A3AB-9991-4334-BA3A-7CE41E04AF83}"/>
              </a:ext>
            </a:extLst>
          </p:cNvPr>
          <p:cNvSpPr txBox="1"/>
          <p:nvPr/>
        </p:nvSpPr>
        <p:spPr>
          <a:xfrm>
            <a:off x="681317" y="1658470"/>
            <a:ext cx="11170024" cy="2400657"/>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To create a secured environment (in medicine field) using blockchain</a:t>
            </a:r>
          </a:p>
          <a:p>
            <a:pPr marL="285750" indent="-285750" algn="just">
              <a:buFont typeface="Arial" panose="020B0604020202020204" pitchFamily="34" charset="0"/>
              <a:buChar char="•"/>
            </a:pPr>
            <a:r>
              <a:rPr lang="en-US" sz="2400" dirty="0"/>
              <a:t>To create a full-fledged web application which manages the supply chain using blockchain instead of traditional centralized networks.</a:t>
            </a:r>
          </a:p>
          <a:p>
            <a:pPr marL="285750" indent="-285750" algn="just">
              <a:buFont typeface="Arial" panose="020B0604020202020204" pitchFamily="34" charset="0"/>
              <a:buChar char="•"/>
            </a:pPr>
            <a:r>
              <a:rPr lang="en-US" sz="2400" dirty="0"/>
              <a:t>A feedback mechanism to evaluate the performance of different entities in the chain</a:t>
            </a:r>
          </a:p>
          <a:p>
            <a:pPr marL="285750" indent="-285750">
              <a:buFont typeface="Arial" panose="020B0604020202020204" pitchFamily="34" charset="0"/>
              <a:buChar char="•"/>
            </a:pPr>
            <a:endParaRPr lang="en-US" dirty="0"/>
          </a:p>
          <a:p>
            <a:endParaRPr lang="en-US" dirty="0"/>
          </a:p>
          <a:p>
            <a:endParaRPr lang="en-US" b="1" dirty="0"/>
          </a:p>
        </p:txBody>
      </p:sp>
    </p:spTree>
    <p:extLst>
      <p:ext uri="{BB962C8B-B14F-4D97-AF65-F5344CB8AC3E}">
        <p14:creationId xmlns:p14="http://schemas.microsoft.com/office/powerpoint/2010/main" val="232043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64DFF-1EEB-49B1-97DB-F48A8E992306}"/>
              </a:ext>
            </a:extLst>
          </p:cNvPr>
          <p:cNvSpPr>
            <a:spLocks noGrp="1"/>
          </p:cNvSpPr>
          <p:nvPr>
            <p:ph type="title"/>
          </p:nvPr>
        </p:nvSpPr>
        <p:spPr/>
        <p:txBody>
          <a:bodyPr>
            <a:normAutofit/>
          </a:bodyPr>
          <a:lstStyle/>
          <a:p>
            <a:pPr algn="l"/>
            <a:r>
              <a:rPr lang="en-US" sz="3600" b="1" dirty="0"/>
              <a:t>                            </a:t>
            </a:r>
            <a:r>
              <a:rPr lang="en-US" sz="3600" b="1" dirty="0">
                <a:latin typeface="+mn-lt"/>
              </a:rPr>
              <a:t>Objectives</a:t>
            </a:r>
            <a:br>
              <a:rPr lang="en-US" sz="3600" b="1" dirty="0">
                <a:latin typeface="+mn-lt"/>
              </a:rPr>
            </a:br>
            <a:endParaRPr lang="en-US" sz="2000" dirty="0">
              <a:latin typeface="+mn-lt"/>
            </a:endParaRPr>
          </a:p>
        </p:txBody>
      </p:sp>
      <p:sp>
        <p:nvSpPr>
          <p:cNvPr id="3" name="Subtitle 2">
            <a:extLst>
              <a:ext uri="{FF2B5EF4-FFF2-40B4-BE49-F238E27FC236}">
                <a16:creationId xmlns:a16="http://schemas.microsoft.com/office/drawing/2014/main" id="{72A404B3-3C21-45F8-A51D-413FBFC14F63}"/>
              </a:ext>
            </a:extLst>
          </p:cNvPr>
          <p:cNvSpPr>
            <a:spLocks noGrp="1"/>
          </p:cNvSpPr>
          <p:nvPr>
            <p:ph idx="1"/>
          </p:nvPr>
        </p:nvSpPr>
        <p:spPr/>
        <p:txBody>
          <a:bodyPr>
            <a:normAutofit/>
          </a:bodyPr>
          <a:lstStyle/>
          <a:p>
            <a:pPr marL="342900" indent="-342900">
              <a:buFont typeface="Arial" panose="020B0604020202020204" pitchFamily="34" charset="0"/>
              <a:buChar char="•"/>
            </a:pPr>
            <a:r>
              <a:rPr lang="en-US" sz="2400" dirty="0">
                <a:latin typeface="+mn-lt"/>
              </a:rPr>
              <a:t>To improve the quality of service provided to customers.</a:t>
            </a:r>
          </a:p>
          <a:p>
            <a:pPr marL="342900" indent="-342900">
              <a:buFont typeface="Arial" panose="020B0604020202020204" pitchFamily="34" charset="0"/>
              <a:buChar char="•"/>
            </a:pPr>
            <a:r>
              <a:rPr lang="en-US" sz="2400" dirty="0">
                <a:latin typeface="+mn-lt"/>
              </a:rPr>
              <a:t>To improve the pipeline visibility by notifying the customer regarding the process status.</a:t>
            </a:r>
            <a:endParaRPr lang="en-US" sz="2400" dirty="0"/>
          </a:p>
          <a:p>
            <a:pPr marL="342900" indent="-342900">
              <a:buFont typeface="Arial" panose="020B0604020202020204" pitchFamily="34" charset="0"/>
              <a:buChar char="•"/>
            </a:pPr>
            <a:r>
              <a:rPr lang="en-US" sz="2400" dirty="0">
                <a:latin typeface="+mn-lt"/>
              </a:rPr>
              <a:t>Increasing trust between all entities of the chain.</a:t>
            </a:r>
            <a:br>
              <a:rPr lang="en-US" sz="2400" dirty="0">
                <a:latin typeface="+mn-lt"/>
              </a:rPr>
            </a:br>
            <a:endParaRPr lang="en-US" sz="2400" dirty="0"/>
          </a:p>
        </p:txBody>
      </p:sp>
    </p:spTree>
    <p:extLst>
      <p:ext uri="{BB962C8B-B14F-4D97-AF65-F5344CB8AC3E}">
        <p14:creationId xmlns:p14="http://schemas.microsoft.com/office/powerpoint/2010/main" val="3305890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9247CFE-9A1B-4F24-B008-CD31B0AECF68}"/>
              </a:ext>
            </a:extLst>
          </p:cNvPr>
          <p:cNvSpPr>
            <a:spLocks noGrp="1"/>
          </p:cNvSpPr>
          <p:nvPr>
            <p:ph type="title"/>
          </p:nvPr>
        </p:nvSpPr>
        <p:spPr>
          <a:xfrm>
            <a:off x="551329" y="185738"/>
            <a:ext cx="10515600" cy="1325563"/>
          </a:xfrm>
        </p:spPr>
        <p:txBody>
          <a:bodyPr>
            <a:normAutofit/>
          </a:bodyPr>
          <a:lstStyle/>
          <a:p>
            <a:pPr algn="ctr"/>
            <a:r>
              <a:rPr lang="en-US" sz="3600" b="1" dirty="0">
                <a:latin typeface="+mn-lt"/>
              </a:rPr>
              <a:t>Research Gaps</a:t>
            </a:r>
          </a:p>
        </p:txBody>
      </p:sp>
      <p:sp>
        <p:nvSpPr>
          <p:cNvPr id="3" name="Slide Number Placeholder 2">
            <a:extLst>
              <a:ext uri="{FF2B5EF4-FFF2-40B4-BE49-F238E27FC236}">
                <a16:creationId xmlns:a16="http://schemas.microsoft.com/office/drawing/2014/main" id="{79BCEE90-85EB-3B7E-92AE-7620AF62740F}"/>
              </a:ext>
            </a:extLst>
          </p:cNvPr>
          <p:cNvSpPr>
            <a:spLocks noGrp="1"/>
          </p:cNvSpPr>
          <p:nvPr>
            <p:ph type="sldNum" sz="quarter" idx="12"/>
          </p:nvPr>
        </p:nvSpPr>
        <p:spPr/>
        <p:txBody>
          <a:bodyPr/>
          <a:lstStyle/>
          <a:p>
            <a:fld id="{4FAB73BC-B049-4115-A692-8D63A059BFB8}" type="slidenum">
              <a:rPr lang="en-US" smtClean="0">
                <a:latin typeface="Times New Roman" panose="02020603050405020304" pitchFamily="18" charset="0"/>
                <a:cs typeface="Times New Roman" panose="02020603050405020304" pitchFamily="18" charset="0"/>
              </a:rPr>
              <a:pPr/>
              <a:t>9</a:t>
            </a:fld>
            <a:endParaRPr lang="en-US"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C317A9BB-033D-23ED-3237-CA10EAE7143A}"/>
              </a:ext>
            </a:extLst>
          </p:cNvPr>
          <p:cNvSpPr/>
          <p:nvPr/>
        </p:nvSpPr>
        <p:spPr>
          <a:xfrm>
            <a:off x="4545106" y="1397241"/>
            <a:ext cx="4443954" cy="498663"/>
          </a:xfrm>
          <a:prstGeom prst="rect">
            <a:avLst/>
          </a:prstGeom>
        </p:spPr>
        <p:txBody>
          <a:bodyPr wrap="square">
            <a:spAutoFit/>
          </a:bodyPr>
          <a:lstStyle/>
          <a:p>
            <a:pPr>
              <a:lnSpc>
                <a:spcPct val="150000"/>
              </a:lnSpc>
            </a:pPr>
            <a:endParaRPr lang="en-GB" sz="2000" dirty="0">
              <a:latin typeface="Times New Roman" panose="02020603050405020304" pitchFamily="18" charset="0"/>
              <a:cs typeface="Times New Roman" panose="02020603050405020304" pitchFamily="18" charset="0"/>
            </a:endParaRPr>
          </a:p>
        </p:txBody>
      </p:sp>
      <p:sp>
        <p:nvSpPr>
          <p:cNvPr id="14" name="Footer Placeholder 1">
            <a:extLst>
              <a:ext uri="{FF2B5EF4-FFF2-40B4-BE49-F238E27FC236}">
                <a16:creationId xmlns:a16="http://schemas.microsoft.com/office/drawing/2014/main" id="{95893952-6A16-4A0A-926A-70247AB71118}"/>
              </a:ext>
            </a:extLst>
          </p:cNvPr>
          <p:cNvSpPr>
            <a:spLocks noGrp="1"/>
          </p:cNvSpPr>
          <p:nvPr>
            <p:ph idx="1"/>
          </p:nvPr>
        </p:nvSpPr>
        <p:spPr>
          <a:xfrm>
            <a:off x="448235" y="1690688"/>
            <a:ext cx="10905565" cy="4486275"/>
          </a:xfrm>
        </p:spPr>
        <p:txBody>
          <a:bodyPr>
            <a:normAutofit/>
          </a:bodyPr>
          <a:lstStyle/>
          <a:p>
            <a:r>
              <a:rPr lang="en-US" sz="2400" dirty="0"/>
              <a:t>Lack of Implementation: Most of the papers only presented concepts in theory. In practical very few companies are trying to apply this methodology.</a:t>
            </a:r>
          </a:p>
          <a:p>
            <a:r>
              <a:rPr lang="en-US" sz="2400" dirty="0"/>
              <a:t>No Cost Estimation: Cost is an important factor when it comes to decision of choosing a business model. Total system cost estimation in the papers.</a:t>
            </a:r>
          </a:p>
          <a:p>
            <a:r>
              <a:rPr lang="en-US" sz="2400" dirty="0"/>
              <a:t> No Feedback Mechanism: Most proposed methodology fail to provide a feedback to credit a users performance in the blockchain</a:t>
            </a:r>
          </a:p>
        </p:txBody>
      </p:sp>
    </p:spTree>
    <p:extLst>
      <p:ext uri="{BB962C8B-B14F-4D97-AF65-F5344CB8AC3E}">
        <p14:creationId xmlns:p14="http://schemas.microsoft.com/office/powerpoint/2010/main" val="547475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A7DA13-FDD6-42D8-BE47-4BD18C731705}"/>
              </a:ext>
            </a:extLst>
          </p:cNvPr>
          <p:cNvSpPr>
            <a:spLocks noGrp="1"/>
          </p:cNvSpPr>
          <p:nvPr>
            <p:ph type="title"/>
          </p:nvPr>
        </p:nvSpPr>
        <p:spPr>
          <a:xfrm>
            <a:off x="757518" y="365125"/>
            <a:ext cx="10515600" cy="1325563"/>
          </a:xfrm>
        </p:spPr>
        <p:txBody>
          <a:bodyPr/>
          <a:lstStyle/>
          <a:p>
            <a:pPr algn="ctr"/>
            <a:br>
              <a:rPr lang="en-US" sz="4400" b="1" dirty="0"/>
            </a:br>
            <a:endParaRPr lang="en-US" dirty="0"/>
          </a:p>
        </p:txBody>
      </p:sp>
      <p:pic>
        <p:nvPicPr>
          <p:cNvPr id="8" name="Content Placeholder 7">
            <a:extLst>
              <a:ext uri="{FF2B5EF4-FFF2-40B4-BE49-F238E27FC236}">
                <a16:creationId xmlns:a16="http://schemas.microsoft.com/office/drawing/2014/main" id="{2084DAD7-A347-49A3-8CF4-30735C79D035}"/>
              </a:ext>
            </a:extLst>
          </p:cNvPr>
          <p:cNvPicPr>
            <a:picLocks noGrp="1" noChangeAspect="1"/>
          </p:cNvPicPr>
          <p:nvPr>
            <p:ph idx="1"/>
          </p:nvPr>
        </p:nvPicPr>
        <p:blipFill rotWithShape="1">
          <a:blip r:embed="rId2"/>
          <a:srcRect l="2005" t="1447" r="3256"/>
          <a:stretch/>
        </p:blipFill>
        <p:spPr>
          <a:xfrm>
            <a:off x="670111" y="908937"/>
            <a:ext cx="10851777" cy="5464969"/>
          </a:xfrm>
          <a:prstGeom prst="rect">
            <a:avLst/>
          </a:prstGeom>
        </p:spPr>
      </p:pic>
      <p:sp>
        <p:nvSpPr>
          <p:cNvPr id="3" name="Slide Number Placeholder 2"/>
          <p:cNvSpPr>
            <a:spLocks noGrp="1"/>
          </p:cNvSpPr>
          <p:nvPr>
            <p:ph type="sldNum" sz="quarter" idx="12"/>
          </p:nvPr>
        </p:nvSpPr>
        <p:spPr/>
        <p:txBody>
          <a:bodyPr/>
          <a:lstStyle/>
          <a:p>
            <a:fld id="{4FAB73BC-B049-4115-A692-8D63A059BFB8}" type="slidenum">
              <a:rPr lang="en-US" smtClean="0"/>
              <a:pPr/>
              <a:t>10</a:t>
            </a:fld>
            <a:endParaRPr lang="en-US" dirty="0"/>
          </a:p>
        </p:txBody>
      </p:sp>
      <p:sp>
        <p:nvSpPr>
          <p:cNvPr id="10" name="Rectangle 9">
            <a:extLst>
              <a:ext uri="{FF2B5EF4-FFF2-40B4-BE49-F238E27FC236}">
                <a16:creationId xmlns:a16="http://schemas.microsoft.com/office/drawing/2014/main" id="{23855906-4D5D-4E56-8496-A9A744672422}"/>
              </a:ext>
            </a:extLst>
          </p:cNvPr>
          <p:cNvSpPr/>
          <p:nvPr/>
        </p:nvSpPr>
        <p:spPr>
          <a:xfrm>
            <a:off x="11019864" y="1027906"/>
            <a:ext cx="502024" cy="27790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6A966FC3-969E-4673-857F-62581E2D776C}"/>
              </a:ext>
            </a:extLst>
          </p:cNvPr>
          <p:cNvSpPr txBox="1"/>
          <p:nvPr/>
        </p:nvSpPr>
        <p:spPr>
          <a:xfrm>
            <a:off x="10981764" y="982193"/>
            <a:ext cx="609600" cy="369332"/>
          </a:xfrm>
          <a:prstGeom prst="rect">
            <a:avLst/>
          </a:prstGeom>
          <a:solidFill>
            <a:schemeClr val="bg1">
              <a:lumMod val="95000"/>
            </a:schemeClr>
          </a:solidFill>
        </p:spPr>
        <p:txBody>
          <a:bodyPr wrap="square" rtlCol="0">
            <a:spAutoFit/>
          </a:bodyPr>
          <a:lstStyle/>
          <a:p>
            <a:endParaRPr lang="en-US" dirty="0"/>
          </a:p>
        </p:txBody>
      </p:sp>
      <p:sp>
        <p:nvSpPr>
          <p:cNvPr id="12" name="TextBox 11">
            <a:extLst>
              <a:ext uri="{FF2B5EF4-FFF2-40B4-BE49-F238E27FC236}">
                <a16:creationId xmlns:a16="http://schemas.microsoft.com/office/drawing/2014/main" id="{7A2A38B4-5026-4209-8B48-99818EE5BE59}"/>
              </a:ext>
            </a:extLst>
          </p:cNvPr>
          <p:cNvSpPr txBox="1"/>
          <p:nvPr/>
        </p:nvSpPr>
        <p:spPr>
          <a:xfrm>
            <a:off x="4168588" y="160735"/>
            <a:ext cx="9350188" cy="523220"/>
          </a:xfrm>
          <a:prstGeom prst="rect">
            <a:avLst/>
          </a:prstGeom>
          <a:noFill/>
        </p:spPr>
        <p:txBody>
          <a:bodyPr wrap="square" rtlCol="0">
            <a:spAutoFit/>
          </a:bodyPr>
          <a:lstStyle/>
          <a:p>
            <a:r>
              <a:rPr lang="en-US" sz="2800" b="1" dirty="0"/>
              <a:t>Blockchain Architecture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52BF6-C190-4A98-B97C-AF4D2F733E54}"/>
              </a:ext>
            </a:extLst>
          </p:cNvPr>
          <p:cNvSpPr>
            <a:spLocks noGrp="1"/>
          </p:cNvSpPr>
          <p:nvPr>
            <p:ph type="ctrTitle"/>
          </p:nvPr>
        </p:nvSpPr>
        <p:spPr>
          <a:xfrm>
            <a:off x="1407458" y="683094"/>
            <a:ext cx="9144000" cy="477837"/>
          </a:xfrm>
        </p:spPr>
        <p:txBody>
          <a:bodyPr>
            <a:noAutofit/>
          </a:bodyPr>
          <a:lstStyle/>
          <a:p>
            <a:r>
              <a:rPr lang="en-US" sz="3600" b="1" dirty="0">
                <a:latin typeface="+mn-lt"/>
              </a:rPr>
              <a:t>Functions of blockchain</a:t>
            </a:r>
          </a:p>
        </p:txBody>
      </p:sp>
      <p:sp>
        <p:nvSpPr>
          <p:cNvPr id="3" name="Subtitle 2">
            <a:extLst>
              <a:ext uri="{FF2B5EF4-FFF2-40B4-BE49-F238E27FC236}">
                <a16:creationId xmlns:a16="http://schemas.microsoft.com/office/drawing/2014/main" id="{E0B025D6-19D9-4766-92E5-E2C5210EE9F9}"/>
              </a:ext>
            </a:extLst>
          </p:cNvPr>
          <p:cNvSpPr>
            <a:spLocks noGrp="1"/>
          </p:cNvSpPr>
          <p:nvPr>
            <p:ph type="subTitle" idx="1"/>
          </p:nvPr>
        </p:nvSpPr>
        <p:spPr>
          <a:xfrm>
            <a:off x="833717" y="1757085"/>
            <a:ext cx="10703859" cy="3801034"/>
          </a:xfrm>
        </p:spPr>
        <p:txBody>
          <a:bodyPr>
            <a:normAutofit fontScale="70000" lnSpcReduction="20000"/>
          </a:bodyPr>
          <a:lstStyle/>
          <a:p>
            <a:pPr marL="514350" indent="-514350" algn="just">
              <a:buFont typeface="+mj-lt"/>
              <a:buAutoNum type="arabicPeriod"/>
            </a:pPr>
            <a:r>
              <a:rPr lang="en-US" sz="3400" b="1" i="0" dirty="0">
                <a:effectLst/>
              </a:rPr>
              <a:t>Decentralization</a:t>
            </a:r>
            <a:r>
              <a:rPr lang="en-US" sz="3400" b="0" i="0" dirty="0">
                <a:effectLst/>
              </a:rPr>
              <a:t>: Data is distributed across a network of nodes rather than stored in a central location.</a:t>
            </a:r>
          </a:p>
          <a:p>
            <a:pPr marL="514350" indent="-514350" algn="just">
              <a:buFont typeface="+mj-lt"/>
              <a:buAutoNum type="arabicPeriod"/>
            </a:pPr>
            <a:r>
              <a:rPr lang="en-US" sz="3400" b="1" i="0" dirty="0">
                <a:effectLst/>
              </a:rPr>
              <a:t>Immutable Ledger</a:t>
            </a:r>
            <a:r>
              <a:rPr lang="en-US" sz="3400" b="0" i="0" dirty="0">
                <a:effectLst/>
              </a:rPr>
              <a:t>: Once data is recorded on the blockchain, it cannot be altered or deleted.</a:t>
            </a:r>
          </a:p>
          <a:p>
            <a:pPr marL="514350" indent="-514350" algn="just">
              <a:buFont typeface="+mj-lt"/>
              <a:buAutoNum type="arabicPeriod"/>
            </a:pPr>
            <a:r>
              <a:rPr lang="en-US" sz="3400" b="1" i="0" dirty="0">
                <a:effectLst/>
              </a:rPr>
              <a:t>Transparency</a:t>
            </a:r>
            <a:r>
              <a:rPr lang="en-US" sz="3400" b="0" i="0" dirty="0">
                <a:effectLst/>
              </a:rPr>
              <a:t>: All transactions on the blockchain are visible to participants, enhancing trust and accountability.</a:t>
            </a:r>
          </a:p>
          <a:p>
            <a:pPr marL="514350" indent="-514350" algn="just">
              <a:buFont typeface="+mj-lt"/>
              <a:buAutoNum type="arabicPeriod"/>
            </a:pPr>
            <a:r>
              <a:rPr lang="en-US" sz="3400" b="1" i="0" dirty="0">
                <a:effectLst/>
              </a:rPr>
              <a:t>Security</a:t>
            </a:r>
            <a:r>
              <a:rPr lang="en-US" sz="3400" b="0" i="0" dirty="0">
                <a:effectLst/>
              </a:rPr>
              <a:t>: Cryptographic techniques ensure the integrity and security of transactions and data.</a:t>
            </a:r>
          </a:p>
          <a:p>
            <a:pPr marL="514350" indent="-514350" algn="just">
              <a:buFont typeface="+mj-lt"/>
              <a:buAutoNum type="arabicPeriod"/>
            </a:pPr>
            <a:r>
              <a:rPr lang="en-US" sz="3400" b="1" i="0" dirty="0">
                <a:effectLst/>
              </a:rPr>
              <a:t>Consensus Mechanisms</a:t>
            </a:r>
            <a:r>
              <a:rPr lang="en-US" sz="3400" b="0" i="0" dirty="0">
                <a:effectLst/>
              </a:rPr>
              <a:t>: Protocols ensure agreement on the validity of transactions across the network.</a:t>
            </a:r>
          </a:p>
          <a:p>
            <a:pPr marL="514350" indent="-514350" algn="just">
              <a:buFont typeface="+mj-lt"/>
              <a:buAutoNum type="arabicPeriod"/>
            </a:pPr>
            <a:r>
              <a:rPr lang="en-US" sz="3400" b="1" i="0" dirty="0">
                <a:effectLst/>
              </a:rPr>
              <a:t>Smart Contracts</a:t>
            </a:r>
            <a:r>
              <a:rPr lang="en-US" sz="3400" b="0" i="0" dirty="0">
                <a:effectLst/>
              </a:rPr>
              <a:t>: Self-executing contracts with predefined conditions, automating transactions without intermediaries.</a:t>
            </a:r>
          </a:p>
          <a:p>
            <a:endParaRPr lang="en-US" dirty="0"/>
          </a:p>
        </p:txBody>
      </p:sp>
    </p:spTree>
    <p:extLst>
      <p:ext uri="{BB962C8B-B14F-4D97-AF65-F5344CB8AC3E}">
        <p14:creationId xmlns:p14="http://schemas.microsoft.com/office/powerpoint/2010/main" val="3186861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D1B7-1BDF-4E77-9CBF-DAFFB7DF536E}"/>
              </a:ext>
            </a:extLst>
          </p:cNvPr>
          <p:cNvSpPr>
            <a:spLocks noGrp="1"/>
          </p:cNvSpPr>
          <p:nvPr>
            <p:ph type="title"/>
          </p:nvPr>
        </p:nvSpPr>
        <p:spPr>
          <a:xfrm>
            <a:off x="3635188" y="18255"/>
            <a:ext cx="10515600" cy="1325563"/>
          </a:xfrm>
        </p:spPr>
        <p:txBody>
          <a:bodyPr>
            <a:normAutofit/>
          </a:bodyPr>
          <a:lstStyle/>
          <a:p>
            <a:r>
              <a:rPr lang="en-US" sz="3600" b="1" dirty="0">
                <a:latin typeface="+mn-lt"/>
              </a:rPr>
              <a:t>Functions of ganache</a:t>
            </a:r>
          </a:p>
        </p:txBody>
      </p:sp>
      <p:sp>
        <p:nvSpPr>
          <p:cNvPr id="3" name="Content Placeholder 2">
            <a:extLst>
              <a:ext uri="{FF2B5EF4-FFF2-40B4-BE49-F238E27FC236}">
                <a16:creationId xmlns:a16="http://schemas.microsoft.com/office/drawing/2014/main" id="{DBA72CE5-982B-4997-B3C9-AD84B60F924C}"/>
              </a:ext>
            </a:extLst>
          </p:cNvPr>
          <p:cNvSpPr>
            <a:spLocks noGrp="1"/>
          </p:cNvSpPr>
          <p:nvPr>
            <p:ph idx="1"/>
          </p:nvPr>
        </p:nvSpPr>
        <p:spPr>
          <a:xfrm>
            <a:off x="634253" y="1446514"/>
            <a:ext cx="10923494" cy="4805363"/>
          </a:xfrm>
        </p:spPr>
        <p:txBody>
          <a:bodyPr>
            <a:normAutofit fontScale="25000" lnSpcReduction="20000"/>
          </a:bodyPr>
          <a:lstStyle/>
          <a:p>
            <a:pPr algn="just">
              <a:buFont typeface="+mj-lt"/>
              <a:buAutoNum type="arabicPeriod"/>
            </a:pPr>
            <a:r>
              <a:rPr lang="en-US" sz="9600" b="1" i="0" dirty="0">
                <a:effectLst/>
              </a:rPr>
              <a:t>Local Blockchain Development</a:t>
            </a:r>
            <a:r>
              <a:rPr lang="en-US" sz="9600" b="0" i="0" dirty="0">
                <a:effectLst/>
              </a:rPr>
              <a:t>: Ganache allows developers to run a personal Ethereum blockchain locally on their machine. </a:t>
            </a:r>
          </a:p>
          <a:p>
            <a:pPr algn="just">
              <a:buFont typeface="+mj-lt"/>
              <a:buAutoNum type="arabicPeriod"/>
            </a:pPr>
            <a:r>
              <a:rPr lang="en-US" sz="9600" b="1" i="0" dirty="0">
                <a:effectLst/>
              </a:rPr>
              <a:t>Smart Contract Deployment</a:t>
            </a:r>
            <a:r>
              <a:rPr lang="en-US" sz="9600" b="0" i="0" dirty="0">
                <a:effectLst/>
              </a:rPr>
              <a:t>: Developers can deploy smart contracts to the Ganache blockchain for testing purposes. </a:t>
            </a:r>
          </a:p>
          <a:p>
            <a:pPr algn="just">
              <a:buFont typeface="+mj-lt"/>
              <a:buAutoNum type="arabicPeriod"/>
            </a:pPr>
            <a:r>
              <a:rPr lang="en-US" sz="9600" b="1" i="0" dirty="0">
                <a:effectLst/>
              </a:rPr>
              <a:t>Transaction Simulation</a:t>
            </a:r>
            <a:r>
              <a:rPr lang="en-US" sz="9600" b="0" i="0" dirty="0">
                <a:effectLst/>
              </a:rPr>
              <a:t>: Ganache allows developers to simulate transactions on the local blockchain. Developers can test various scenarios, such as contract interactions, token transfers, and transaction fees, to ensure the robustness and correctness of their smart contracts and applications.</a:t>
            </a:r>
          </a:p>
          <a:p>
            <a:pPr algn="just">
              <a:buFont typeface="+mj-lt"/>
              <a:buAutoNum type="arabicPeriod"/>
            </a:pPr>
            <a:r>
              <a:rPr lang="en-US" sz="9600" b="1" i="0" dirty="0">
                <a:effectLst/>
              </a:rPr>
              <a:t>Account Management</a:t>
            </a:r>
            <a:r>
              <a:rPr lang="en-US" sz="9600" b="0" i="0" dirty="0">
                <a:effectLst/>
              </a:rPr>
              <a:t>: Ganache provides a set of pre-funded accounts for testing purposes. Developers can use these accounts to simulate different user roles and behaviors within their applications. </a:t>
            </a:r>
          </a:p>
          <a:p>
            <a:pPr algn="just">
              <a:buFont typeface="+mj-lt"/>
              <a:buAutoNum type="arabicPeriod"/>
            </a:pPr>
            <a:r>
              <a:rPr lang="en-US" sz="9600" b="1" i="0" dirty="0">
                <a:effectLst/>
              </a:rPr>
              <a:t>Blockchain State Inspection</a:t>
            </a:r>
            <a:r>
              <a:rPr lang="en-US" sz="9600" b="0" i="0" dirty="0">
                <a:effectLst/>
              </a:rPr>
              <a:t>: Ganache offers a user-friendly interface for inspecting the state of the local blockchain. </a:t>
            </a:r>
            <a:endParaRPr lang="en-US" dirty="0"/>
          </a:p>
        </p:txBody>
      </p:sp>
      <p:sp>
        <p:nvSpPr>
          <p:cNvPr id="5" name="Slide Number Placeholder 4">
            <a:extLst>
              <a:ext uri="{FF2B5EF4-FFF2-40B4-BE49-F238E27FC236}">
                <a16:creationId xmlns:a16="http://schemas.microsoft.com/office/drawing/2014/main" id="{D3F3CCC2-C384-4058-860C-0B7D8CA42A42}"/>
              </a:ext>
            </a:extLst>
          </p:cNvPr>
          <p:cNvSpPr>
            <a:spLocks noGrp="1"/>
          </p:cNvSpPr>
          <p:nvPr>
            <p:ph type="sldNum" sz="quarter" idx="12"/>
          </p:nvPr>
        </p:nvSpPr>
        <p:spPr/>
        <p:txBody>
          <a:bodyPr/>
          <a:lstStyle/>
          <a:p>
            <a:fld id="{6113E31D-E2AB-40D1-8B51-AFA5AFEF393A}" type="slidenum">
              <a:rPr lang="en-US" smtClean="0"/>
              <a:pPr/>
              <a:t>12</a:t>
            </a:fld>
            <a:endParaRPr lang="en-US" dirty="0"/>
          </a:p>
        </p:txBody>
      </p:sp>
    </p:spTree>
    <p:extLst>
      <p:ext uri="{BB962C8B-B14F-4D97-AF65-F5344CB8AC3E}">
        <p14:creationId xmlns:p14="http://schemas.microsoft.com/office/powerpoint/2010/main" val="483652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4681D3-20EC-EB47-6EFF-3781A215533C}"/>
              </a:ext>
            </a:extLst>
          </p:cNvPr>
          <p:cNvSpPr>
            <a:spLocks noGrp="1"/>
          </p:cNvSpPr>
          <p:nvPr>
            <p:ph type="sldNum" sz="quarter" idx="12"/>
          </p:nvPr>
        </p:nvSpPr>
        <p:spPr>
          <a:xfrm>
            <a:off x="11049679" y="6383647"/>
            <a:ext cx="753545" cy="365125"/>
          </a:xfrm>
        </p:spPr>
        <p:txBody>
          <a:bodyPr/>
          <a:lstStyle/>
          <a:p>
            <a:fld id="{4FAB73BC-B049-4115-A692-8D63A059BFB8}" type="slidenum">
              <a:rPr lang="en-US" smtClean="0">
                <a:latin typeface="Times New Roman" panose="02020603050405020304" pitchFamily="18" charset="0"/>
                <a:cs typeface="Times New Roman" panose="02020603050405020304" pitchFamily="18" charset="0"/>
              </a:rPr>
              <a:pPr/>
              <a:t>13</a:t>
            </a:fld>
            <a:endParaRPr lang="en-US"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6B1C06F5-2639-8571-6FC5-FB0C6131012A}"/>
              </a:ext>
            </a:extLst>
          </p:cNvPr>
          <p:cNvSpPr/>
          <p:nvPr/>
        </p:nvSpPr>
        <p:spPr>
          <a:xfrm>
            <a:off x="418322" y="343468"/>
            <a:ext cx="11355355" cy="535531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GB" sz="3600" b="1" dirty="0">
                <a:latin typeface="Times New Roman" panose="02020603050405020304" pitchFamily="18" charset="0"/>
                <a:cs typeface="Times New Roman" panose="02020603050405020304" pitchFamily="18" charset="0"/>
              </a:rPr>
              <a:t>Advantages </a:t>
            </a:r>
          </a:p>
          <a:p>
            <a:pPr lvl="0" algn="just"/>
            <a:r>
              <a:rPr lang="en-US" sz="2400" b="1" dirty="0"/>
              <a:t>Improved transparency and traceability:</a:t>
            </a:r>
            <a:r>
              <a:rPr lang="en-US" sz="2400" dirty="0"/>
              <a:t> Proposed system would enable real-time tracking and visibility of pharmaceutical products in the supply chain, allowing stakeholders to monitor the movement and status of products at any point in the process. </a:t>
            </a:r>
          </a:p>
          <a:p>
            <a:pPr lvl="0" algn="just"/>
            <a:r>
              <a:rPr lang="en-US" sz="2400" dirty="0"/>
              <a:t> </a:t>
            </a:r>
          </a:p>
          <a:p>
            <a:pPr algn="just"/>
            <a:r>
              <a:rPr lang="en-US" sz="2400" b="1" dirty="0"/>
              <a:t>Enhanced security: </a:t>
            </a:r>
            <a:r>
              <a:rPr lang="en-US" sz="2400" dirty="0"/>
              <a:t>System will provide a secure and transparent record of transactions, which can help to reduce the risk of counterfeiting and fraud in the pharmaceutical supply chain. This would improve the overall security of the supply chain, and help to ensure that only genuine, high-quality medications are distributed.</a:t>
            </a:r>
          </a:p>
          <a:p>
            <a:pPr algn="just"/>
            <a:r>
              <a:rPr lang="en-US" sz="2400" dirty="0"/>
              <a:t> </a:t>
            </a:r>
          </a:p>
          <a:p>
            <a:pPr algn="just"/>
            <a:r>
              <a:rPr lang="en-US" sz="2400" b="1" dirty="0"/>
              <a:t>Greater Efficiency:</a:t>
            </a:r>
            <a:r>
              <a:rPr lang="en-US" sz="2400" dirty="0"/>
              <a:t> By streamlining the supply chain process and enabling real-time tracking and visibility, a blockchain based system may help to improve the efficiency of the supply chain, reducing delays and errors</a:t>
            </a:r>
            <a:endParaRPr lang="en-GB" sz="24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4817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4EC27-F62C-495E-984F-4E98FCABF4CC}"/>
              </a:ext>
            </a:extLst>
          </p:cNvPr>
          <p:cNvSpPr>
            <a:spLocks noGrp="1"/>
          </p:cNvSpPr>
          <p:nvPr>
            <p:ph type="title"/>
          </p:nvPr>
        </p:nvSpPr>
        <p:spPr>
          <a:xfrm>
            <a:off x="717176" y="-91234"/>
            <a:ext cx="10515600" cy="1325563"/>
          </a:xfrm>
        </p:spPr>
        <p:txBody>
          <a:bodyPr>
            <a:normAutofit/>
          </a:bodyPr>
          <a:lstStyle/>
          <a:p>
            <a:pPr algn="ctr"/>
            <a:r>
              <a:rPr lang="en-US" sz="3600" b="1" dirty="0">
                <a:latin typeface="+mn-lt"/>
              </a:rPr>
              <a:t>Implementation</a:t>
            </a:r>
          </a:p>
        </p:txBody>
      </p:sp>
      <p:sp>
        <p:nvSpPr>
          <p:cNvPr id="5" name="Slide Number Placeholder 4">
            <a:extLst>
              <a:ext uri="{FF2B5EF4-FFF2-40B4-BE49-F238E27FC236}">
                <a16:creationId xmlns:a16="http://schemas.microsoft.com/office/drawing/2014/main" id="{D3DE7460-51FA-476D-A3A1-92A3BA3623DE}"/>
              </a:ext>
            </a:extLst>
          </p:cNvPr>
          <p:cNvSpPr>
            <a:spLocks noGrp="1"/>
          </p:cNvSpPr>
          <p:nvPr>
            <p:ph type="sldNum" sz="quarter" idx="12"/>
          </p:nvPr>
        </p:nvSpPr>
        <p:spPr/>
        <p:txBody>
          <a:bodyPr/>
          <a:lstStyle/>
          <a:p>
            <a:fld id="{6113E31D-E2AB-40D1-8B51-AFA5AFEF393A}" type="slidenum">
              <a:rPr lang="en-US" smtClean="0"/>
              <a:pPr/>
              <a:t>14</a:t>
            </a:fld>
            <a:endParaRPr lang="en-US" dirty="0"/>
          </a:p>
        </p:txBody>
      </p:sp>
      <p:pic>
        <p:nvPicPr>
          <p:cNvPr id="11" name="Content Placeholder 10">
            <a:extLst>
              <a:ext uri="{FF2B5EF4-FFF2-40B4-BE49-F238E27FC236}">
                <a16:creationId xmlns:a16="http://schemas.microsoft.com/office/drawing/2014/main" id="{42D934F0-026D-4E6C-ABA4-C88A3CEE8DA1}"/>
              </a:ext>
            </a:extLst>
          </p:cNvPr>
          <p:cNvPicPr>
            <a:picLocks noGrp="1" noChangeAspect="1"/>
          </p:cNvPicPr>
          <p:nvPr>
            <p:ph idx="1"/>
          </p:nvPr>
        </p:nvPicPr>
        <p:blipFill rotWithShape="1">
          <a:blip r:embed="rId2"/>
          <a:srcRect r="779" b="6689"/>
          <a:stretch/>
        </p:blipFill>
        <p:spPr>
          <a:xfrm>
            <a:off x="632012" y="1102659"/>
            <a:ext cx="10842812" cy="5253692"/>
          </a:xfrm>
        </p:spPr>
      </p:pic>
    </p:spTree>
    <p:extLst>
      <p:ext uri="{BB962C8B-B14F-4D97-AF65-F5344CB8AC3E}">
        <p14:creationId xmlns:p14="http://schemas.microsoft.com/office/powerpoint/2010/main" val="977408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8ACE61A6-E030-4F2C-BCC4-8C9CD9CA8320}"/>
              </a:ext>
            </a:extLst>
          </p:cNvPr>
          <p:cNvPicPr>
            <a:picLocks noGrp="1" noChangeAspect="1"/>
          </p:cNvPicPr>
          <p:nvPr>
            <p:ph idx="1"/>
          </p:nvPr>
        </p:nvPicPr>
        <p:blipFill rotWithShape="1">
          <a:blip r:embed="rId2"/>
          <a:srcRect l="84" t="-1" r="797" b="5649"/>
          <a:stretch/>
        </p:blipFill>
        <p:spPr>
          <a:xfrm>
            <a:off x="762001" y="636494"/>
            <a:ext cx="10591800" cy="5396753"/>
          </a:xfrm>
        </p:spPr>
      </p:pic>
      <p:sp>
        <p:nvSpPr>
          <p:cNvPr id="5" name="Slide Number Placeholder 4">
            <a:extLst>
              <a:ext uri="{FF2B5EF4-FFF2-40B4-BE49-F238E27FC236}">
                <a16:creationId xmlns:a16="http://schemas.microsoft.com/office/drawing/2014/main" id="{748594B8-F098-4C3D-B6AE-3705400418B1}"/>
              </a:ext>
            </a:extLst>
          </p:cNvPr>
          <p:cNvSpPr>
            <a:spLocks noGrp="1"/>
          </p:cNvSpPr>
          <p:nvPr>
            <p:ph type="sldNum" sz="quarter" idx="12"/>
          </p:nvPr>
        </p:nvSpPr>
        <p:spPr/>
        <p:txBody>
          <a:bodyPr/>
          <a:lstStyle/>
          <a:p>
            <a:fld id="{6113E31D-E2AB-40D1-8B51-AFA5AFEF393A}" type="slidenum">
              <a:rPr lang="en-US" smtClean="0"/>
              <a:pPr/>
              <a:t>15</a:t>
            </a:fld>
            <a:endParaRPr lang="en-US" dirty="0"/>
          </a:p>
        </p:txBody>
      </p:sp>
    </p:spTree>
    <p:extLst>
      <p:ext uri="{BB962C8B-B14F-4D97-AF65-F5344CB8AC3E}">
        <p14:creationId xmlns:p14="http://schemas.microsoft.com/office/powerpoint/2010/main" val="4010430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88D8CC30-9D9C-4F29-891D-A74FFB2A6799}"/>
              </a:ext>
            </a:extLst>
          </p:cNvPr>
          <p:cNvPicPr>
            <a:picLocks noGrp="1" noChangeAspect="1"/>
          </p:cNvPicPr>
          <p:nvPr>
            <p:ph idx="1"/>
          </p:nvPr>
        </p:nvPicPr>
        <p:blipFill rotWithShape="1">
          <a:blip r:embed="rId2"/>
          <a:srcRect r="1565" b="5432"/>
          <a:stretch/>
        </p:blipFill>
        <p:spPr>
          <a:xfrm>
            <a:off x="838200" y="537695"/>
            <a:ext cx="10434917" cy="5782609"/>
          </a:xfrm>
        </p:spPr>
      </p:pic>
      <p:sp>
        <p:nvSpPr>
          <p:cNvPr id="5" name="Slide Number Placeholder 4">
            <a:extLst>
              <a:ext uri="{FF2B5EF4-FFF2-40B4-BE49-F238E27FC236}">
                <a16:creationId xmlns:a16="http://schemas.microsoft.com/office/drawing/2014/main" id="{45E7C040-CFD5-4F23-AA44-E5E8F53CC6D1}"/>
              </a:ext>
            </a:extLst>
          </p:cNvPr>
          <p:cNvSpPr>
            <a:spLocks noGrp="1"/>
          </p:cNvSpPr>
          <p:nvPr>
            <p:ph type="sldNum" sz="quarter" idx="12"/>
          </p:nvPr>
        </p:nvSpPr>
        <p:spPr/>
        <p:txBody>
          <a:bodyPr/>
          <a:lstStyle/>
          <a:p>
            <a:fld id="{6113E31D-E2AB-40D1-8B51-AFA5AFEF393A}" type="slidenum">
              <a:rPr lang="en-US" smtClean="0"/>
              <a:pPr/>
              <a:t>16</a:t>
            </a:fld>
            <a:endParaRPr lang="en-US" dirty="0"/>
          </a:p>
        </p:txBody>
      </p:sp>
    </p:spTree>
    <p:extLst>
      <p:ext uri="{BB962C8B-B14F-4D97-AF65-F5344CB8AC3E}">
        <p14:creationId xmlns:p14="http://schemas.microsoft.com/office/powerpoint/2010/main" val="3735537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C7C115D-47A9-4B4C-9B13-AD5648495BA5}"/>
              </a:ext>
            </a:extLst>
          </p:cNvPr>
          <p:cNvPicPr>
            <a:picLocks noGrp="1" noChangeAspect="1"/>
          </p:cNvPicPr>
          <p:nvPr>
            <p:ph idx="1"/>
          </p:nvPr>
        </p:nvPicPr>
        <p:blipFill>
          <a:blip r:embed="rId2"/>
          <a:stretch>
            <a:fillRect/>
          </a:stretch>
        </p:blipFill>
        <p:spPr>
          <a:xfrm>
            <a:off x="3581401" y="636494"/>
            <a:ext cx="4944034" cy="5856381"/>
          </a:xfrm>
        </p:spPr>
      </p:pic>
      <p:sp>
        <p:nvSpPr>
          <p:cNvPr id="5" name="Slide Number Placeholder 4">
            <a:extLst>
              <a:ext uri="{FF2B5EF4-FFF2-40B4-BE49-F238E27FC236}">
                <a16:creationId xmlns:a16="http://schemas.microsoft.com/office/drawing/2014/main" id="{E6A859E8-C6CC-42F6-9082-A5FFAB8A4F82}"/>
              </a:ext>
            </a:extLst>
          </p:cNvPr>
          <p:cNvSpPr>
            <a:spLocks noGrp="1"/>
          </p:cNvSpPr>
          <p:nvPr>
            <p:ph type="sldNum" sz="quarter" idx="12"/>
          </p:nvPr>
        </p:nvSpPr>
        <p:spPr/>
        <p:txBody>
          <a:bodyPr/>
          <a:lstStyle/>
          <a:p>
            <a:fld id="{6113E31D-E2AB-40D1-8B51-AFA5AFEF393A}" type="slidenum">
              <a:rPr lang="en-US" smtClean="0"/>
              <a:pPr/>
              <a:t>17</a:t>
            </a:fld>
            <a:endParaRPr lang="en-US" dirty="0"/>
          </a:p>
        </p:txBody>
      </p:sp>
    </p:spTree>
    <p:extLst>
      <p:ext uri="{BB962C8B-B14F-4D97-AF65-F5344CB8AC3E}">
        <p14:creationId xmlns:p14="http://schemas.microsoft.com/office/powerpoint/2010/main" val="1143669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AE01721-A867-4BD2-94CE-2FCC87805287}"/>
              </a:ext>
            </a:extLst>
          </p:cNvPr>
          <p:cNvSpPr>
            <a:spLocks noGrp="1"/>
          </p:cNvSpPr>
          <p:nvPr>
            <p:ph type="sldNum" sz="quarter" idx="12"/>
          </p:nvPr>
        </p:nvSpPr>
        <p:spPr/>
        <p:txBody>
          <a:bodyPr/>
          <a:lstStyle/>
          <a:p>
            <a:fld id="{6113E31D-E2AB-40D1-8B51-AFA5AFEF393A}" type="slidenum">
              <a:rPr lang="en-US" smtClean="0"/>
              <a:pPr/>
              <a:t>18</a:t>
            </a:fld>
            <a:endParaRPr lang="en-US" dirty="0"/>
          </a:p>
        </p:txBody>
      </p:sp>
      <p:pic>
        <p:nvPicPr>
          <p:cNvPr id="11" name="Content Placeholder 10">
            <a:extLst>
              <a:ext uri="{FF2B5EF4-FFF2-40B4-BE49-F238E27FC236}">
                <a16:creationId xmlns:a16="http://schemas.microsoft.com/office/drawing/2014/main" id="{2514632A-93E4-4A54-9B58-26DC48D7EAA4}"/>
              </a:ext>
            </a:extLst>
          </p:cNvPr>
          <p:cNvPicPr>
            <a:picLocks noGrp="1" noChangeAspect="1"/>
          </p:cNvPicPr>
          <p:nvPr>
            <p:ph idx="1"/>
          </p:nvPr>
        </p:nvPicPr>
        <p:blipFill>
          <a:blip r:embed="rId2"/>
          <a:stretch>
            <a:fillRect/>
          </a:stretch>
        </p:blipFill>
        <p:spPr>
          <a:xfrm>
            <a:off x="1026459" y="611747"/>
            <a:ext cx="10327341" cy="5881128"/>
          </a:xfrm>
        </p:spPr>
      </p:pic>
    </p:spTree>
    <p:extLst>
      <p:ext uri="{BB962C8B-B14F-4D97-AF65-F5344CB8AC3E}">
        <p14:creationId xmlns:p14="http://schemas.microsoft.com/office/powerpoint/2010/main" val="2807855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CAD2AE-923E-230B-E838-1F7E0EB0BD0B}"/>
              </a:ext>
            </a:extLst>
          </p:cNvPr>
          <p:cNvSpPr>
            <a:spLocks noGrp="1"/>
          </p:cNvSpPr>
          <p:nvPr>
            <p:ph type="sldNum" sz="quarter" idx="12"/>
          </p:nvPr>
        </p:nvSpPr>
        <p:spPr>
          <a:xfrm>
            <a:off x="10870627" y="6336348"/>
            <a:ext cx="753545" cy="365125"/>
          </a:xfrm>
        </p:spPr>
        <p:txBody>
          <a:bodyPr/>
          <a:lstStyle/>
          <a:p>
            <a:fld id="{4FAB73BC-B049-4115-A692-8D63A059BFB8}" type="slidenum">
              <a:rPr lang="en-US" smtClean="0"/>
              <a:pPr/>
              <a:t>19</a:t>
            </a:fld>
            <a:endParaRPr lang="en-US" dirty="0"/>
          </a:p>
        </p:txBody>
      </p:sp>
      <p:sp>
        <p:nvSpPr>
          <p:cNvPr id="4" name="TextBox 3">
            <a:extLst>
              <a:ext uri="{FF2B5EF4-FFF2-40B4-BE49-F238E27FC236}">
                <a16:creationId xmlns:a16="http://schemas.microsoft.com/office/drawing/2014/main" id="{C325F511-0B3D-E063-69C5-5151DF3D35EE}"/>
              </a:ext>
            </a:extLst>
          </p:cNvPr>
          <p:cNvSpPr txBox="1"/>
          <p:nvPr/>
        </p:nvSpPr>
        <p:spPr>
          <a:xfrm>
            <a:off x="172342" y="651600"/>
            <a:ext cx="11584421" cy="4893647"/>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References</a:t>
            </a:r>
          </a:p>
          <a:p>
            <a:pPr algn="just"/>
            <a:endParaRPr lang="en-US" sz="3600" b="1" u="sng" dirty="0">
              <a:latin typeface="Times New Roman" panose="02020603050405020304" pitchFamily="18" charset="0"/>
              <a:cs typeface="Times New Roman" panose="02020603050405020304" pitchFamily="18" charset="0"/>
            </a:endParaRPr>
          </a:p>
          <a:p>
            <a:pPr algn="just"/>
            <a:r>
              <a:rPr lang="en-US" sz="2400" dirty="0"/>
              <a:t>[1] G. </a:t>
            </a:r>
            <a:r>
              <a:rPr lang="en-US" sz="2400" dirty="0" err="1"/>
              <a:t>Perboli</a:t>
            </a:r>
            <a:r>
              <a:rPr lang="en-US" sz="2400" dirty="0"/>
              <a:t>, S. </a:t>
            </a:r>
            <a:r>
              <a:rPr lang="en-US" sz="2400" dirty="0" err="1"/>
              <a:t>Musso</a:t>
            </a:r>
            <a:r>
              <a:rPr lang="en-US" sz="2400" dirty="0"/>
              <a:t> and M. </a:t>
            </a:r>
            <a:r>
              <a:rPr lang="en-US" sz="2400" dirty="0" err="1"/>
              <a:t>Rosano</a:t>
            </a:r>
            <a:r>
              <a:rPr lang="en-US" sz="2400" dirty="0"/>
              <a:t>. "</a:t>
            </a:r>
            <a:r>
              <a:rPr lang="en-US" sz="2400" dirty="0" err="1"/>
              <a:t>Blockchain</a:t>
            </a:r>
            <a:r>
              <a:rPr lang="en-US" sz="2400" dirty="0"/>
              <a:t> in Logistics and Supply Chain: A Lean Approach for Designing Real-World Use Cases". in IEEE </a:t>
            </a:r>
          </a:p>
          <a:p>
            <a:pPr algn="just"/>
            <a:r>
              <a:rPr lang="it-IT" sz="2400" dirty="0"/>
              <a:t>Access. vol. 6.pp. 62018-62028, 2018. DOI: 10.1109/ACCESS.2018.2875782. </a:t>
            </a:r>
          </a:p>
          <a:p>
            <a:pPr algn="just"/>
            <a:r>
              <a:rPr lang="en-US" sz="2400" dirty="0"/>
              <a:t>[2] R. Kumar and R. </a:t>
            </a:r>
            <a:r>
              <a:rPr lang="en-US" sz="2400" dirty="0" err="1"/>
              <a:t>Tripathi</a:t>
            </a:r>
            <a:r>
              <a:rPr lang="en-US" sz="2400" dirty="0"/>
              <a:t>. "Traceability of counterfeit medicine supply chain through </a:t>
            </a:r>
            <a:r>
              <a:rPr lang="en-US" sz="2400" dirty="0" err="1"/>
              <a:t>Blockchain</a:t>
            </a:r>
            <a:r>
              <a:rPr lang="en-US" sz="2400" dirty="0"/>
              <a:t>." 2019 11th International Conference on Communication </a:t>
            </a:r>
          </a:p>
          <a:p>
            <a:pPr algn="just"/>
            <a:r>
              <a:rPr lang="en-US" sz="2400" dirty="0"/>
              <a:t>Systems &amp; Networks (COMSNETS). </a:t>
            </a:r>
            <a:r>
              <a:rPr lang="en-US" sz="2400" dirty="0" err="1"/>
              <a:t>Bengaluru</a:t>
            </a:r>
            <a:r>
              <a:rPr lang="en-US" sz="2400" dirty="0"/>
              <a:t>, India. 2019. pp. 568-570. DOI: 10.1109/COMSNETS.2019.8711418. </a:t>
            </a:r>
          </a:p>
          <a:p>
            <a:pPr algn="just"/>
            <a:r>
              <a:rPr lang="en-US" sz="2400" dirty="0"/>
              <a:t>[3] </a:t>
            </a:r>
            <a:r>
              <a:rPr lang="en-US" sz="2400" dirty="0" err="1"/>
              <a:t>Jamil</a:t>
            </a:r>
            <a:r>
              <a:rPr lang="en-US" sz="2400" dirty="0"/>
              <a:t>, F.; Hang, L.; Kim, K.; Kim, D. "A Novel Medical </a:t>
            </a:r>
            <a:r>
              <a:rPr lang="en-US" sz="2400" dirty="0" err="1"/>
              <a:t>Blockchain</a:t>
            </a:r>
            <a:r>
              <a:rPr lang="en-US" sz="2400" dirty="0"/>
              <a:t> Model for Drug Supply Chain Integrity Management in a Smart Hospital". </a:t>
            </a:r>
          </a:p>
          <a:p>
            <a:pPr algn="just"/>
            <a:r>
              <a:rPr lang="en-US" sz="2400" u="sng" dirty="0">
                <a:latin typeface="Times New Roman" panose="02020603050405020304" pitchFamily="18" charset="0"/>
                <a:cs typeface="Times New Roman" panose="02020603050405020304" pitchFamily="18" charset="0"/>
              </a:rPr>
              <a:t>[4] </a:t>
            </a:r>
            <a:r>
              <a:rPr lang="en-US" sz="2400" u="sng" dirty="0" err="1">
                <a:latin typeface="Times New Roman" panose="02020603050405020304" pitchFamily="18" charset="0"/>
                <a:cs typeface="Times New Roman" panose="02020603050405020304" pitchFamily="18" charset="0"/>
              </a:rPr>
              <a:t>pharma</a:t>
            </a:r>
            <a:r>
              <a:rPr lang="en-US" sz="2400" u="sng" dirty="0">
                <a:latin typeface="Times New Roman" panose="02020603050405020304" pitchFamily="18" charset="0"/>
                <a:cs typeface="Times New Roman" panose="02020603050405020304" pitchFamily="18" charset="0"/>
              </a:rPr>
              <a:t> chain by </a:t>
            </a:r>
            <a:r>
              <a:rPr lang="en-US" sz="2400" u="sng" dirty="0" err="1">
                <a:latin typeface="Times New Roman" panose="02020603050405020304" pitchFamily="18" charset="0"/>
                <a:cs typeface="Times New Roman" panose="02020603050405020304" pitchFamily="18" charset="0"/>
              </a:rPr>
              <a:t>shewyn</a:t>
            </a:r>
            <a:r>
              <a:rPr lang="en-US" sz="2400" u="sng" dirty="0">
                <a:latin typeface="Times New Roman" panose="02020603050405020304" pitchFamily="18" charset="0"/>
                <a:cs typeface="Times New Roman" panose="02020603050405020304" pitchFamily="18" charset="0"/>
              </a:rPr>
              <a:t> </a:t>
            </a:r>
            <a:r>
              <a:rPr lang="en-US" sz="2400" u="sng" dirty="0" err="1">
                <a:latin typeface="Times New Roman" panose="02020603050405020304" pitchFamily="18" charset="0"/>
                <a:cs typeface="Times New Roman" panose="02020603050405020304" pitchFamily="18" charset="0"/>
              </a:rPr>
              <a:t>dsouza</a:t>
            </a:r>
            <a:r>
              <a:rPr lang="en-US" sz="2400" u="sng" dirty="0">
                <a:latin typeface="Times New Roman" panose="02020603050405020304" pitchFamily="18" charset="0"/>
                <a:cs typeface="Times New Roman" panose="02020603050405020304" pitchFamily="18" charset="0"/>
              </a:rPr>
              <a:t> using </a:t>
            </a:r>
            <a:r>
              <a:rPr lang="en-US" sz="2400" u="sng" dirty="0" err="1">
                <a:latin typeface="Times New Roman" panose="02020603050405020304" pitchFamily="18" charset="0"/>
                <a:cs typeface="Times New Roman" panose="02020603050405020304" pitchFamily="18" charset="0"/>
              </a:rPr>
              <a:t>blockchain</a:t>
            </a:r>
            <a:endParaRPr lang="en-US" sz="24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34983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15988</TotalTime>
  <Words>1137</Words>
  <Application>Microsoft Office PowerPoint</Application>
  <PresentationFormat>Widescreen</PresentationFormat>
  <Paragraphs>132</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PowerPoint Presentation</vt:lpstr>
      <vt:lpstr>“A SUPPLY CHAIN FOR SAFE DISTRIBUTION OF MEDICINES”</vt:lpstr>
      <vt:lpstr>pp</vt:lpstr>
      <vt:lpstr>PowerPoint Presentation</vt:lpstr>
      <vt:lpstr>PowerPoint Presentation</vt:lpstr>
      <vt:lpstr>PowerPoint Presentation</vt:lpstr>
      <vt:lpstr>PowerPoint Presentation</vt:lpstr>
      <vt:lpstr>                            Objectives </vt:lpstr>
      <vt:lpstr>Research Gaps</vt:lpstr>
      <vt:lpstr> </vt:lpstr>
      <vt:lpstr>Functions of blockchain</vt:lpstr>
      <vt:lpstr>Functions of ganache</vt:lpstr>
      <vt:lpstr>PowerPoint Presentation</vt:lpstr>
      <vt:lpstr>Implementation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Chetan Kurahatti</dc:creator>
  <cp:lastModifiedBy>kiran pujar</cp:lastModifiedBy>
  <cp:revision>211</cp:revision>
  <dcterms:created xsi:type="dcterms:W3CDTF">2022-05-10T02:27:44Z</dcterms:created>
  <dcterms:modified xsi:type="dcterms:W3CDTF">2024-04-04T18:59:50Z</dcterms:modified>
</cp:coreProperties>
</file>